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ns Bold" charset="1" panose="020B0806030504020204"/>
      <p:regular r:id="rId18"/>
    </p:embeddedFont>
    <p:embeddedFont>
      <p:font typeface="Open Sans" charset="1" panose="020B0606030504020204"/>
      <p:regular r:id="rId19"/>
    </p:embeddedFont>
    <p:embeddedFont>
      <p:font typeface="Poppins Bold" charset="1" panose="00000800000000000000"/>
      <p:regular r:id="rId20"/>
    </p:embeddedFont>
    <p:embeddedFont>
      <p:font typeface="Rowdies" charset="1" panose="00000000000000000000"/>
      <p:regular r:id="rId21"/>
    </p:embeddedFont>
    <p:embeddedFont>
      <p:font typeface="Canva Sans Bold" charset="1" panose="020B0803030501040103"/>
      <p:regular r:id="rId22"/>
    </p:embeddedFont>
    <p:embeddedFont>
      <p:font typeface="Sniglet" charset="1" panose="0407050503010002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sasi-upparapalli/infosys_crowdcount_october2025_sasi-upparapalli" TargetMode="External" Type="http://schemas.openxmlformats.org/officeDocument/2006/relationships/hyperlink"/><Relationship Id="rId11" Target="https://github.com/sasi-upparapalli/infosys_crowdcount_october2025_sasi-upparapalli" TargetMode="External" Type="http://schemas.openxmlformats.org/officeDocument/2006/relationships/hyperlink"/><Relationship Id="rId12" Target="https://github.com/sasi-upparapalli/infosys_crowdcount_october2025_sasi-upparapalli" TargetMode="External" Type="http://schemas.openxmlformats.org/officeDocument/2006/relationships/hyperlink"/><Relationship Id="rId13" Target="https://github.com/sasi-upparapalli/infosys_crowdcount_october2025_sasi-upparapalli" TargetMode="External" Type="http://schemas.openxmlformats.org/officeDocument/2006/relationships/hyperlink"/><Relationship Id="rId14" Target="https://github.com/sasi-upparapalli/infosys_crowdcount_october2025_sasi-upparapalli" TargetMode="External" Type="http://schemas.openxmlformats.org/officeDocument/2006/relationships/hyperlink"/><Relationship Id="rId15" Target="https://github.com/sasi-upparapalli/infosys_crowdcount_october2025_sasi-upparapalli" TargetMode="External" Type="http://schemas.openxmlformats.org/officeDocument/2006/relationships/hyperlink"/><Relationship Id="rId16" Target="https://github.com/sasi-upparapalli/infosys_crowdcount_october2025_sasi-upparapalli" TargetMode="External" Type="http://schemas.openxmlformats.org/officeDocument/2006/relationships/hyperlink"/><Relationship Id="rId17" Target="https://github.com/sasi-upparapalli/infosys_crowdcount_october2025_sasi-upparapalli" TargetMode="External" Type="http://schemas.openxmlformats.org/officeDocument/2006/relationships/hyperlink"/><Relationship Id="rId18" Target="https://github.com/sasi-upparapalli/infosys_crowdcount_october2025_sasi-upparapalli" TargetMode="External" Type="http://schemas.openxmlformats.org/officeDocument/2006/relationships/hyperlink"/><Relationship Id="rId19" Target="https://github.com/sasi-upparapalli/infosys_crowdcount_october2025_sasi-upparapalli" TargetMode="External" Type="http://schemas.openxmlformats.org/officeDocument/2006/relationships/hyperlink"/><Relationship Id="rId2" Target="https://github.com/sasi-upparapalli/infosys_crowdcount_october2025_sasi-upparapalli" TargetMode="External" Type="http://schemas.openxmlformats.org/officeDocument/2006/relationships/hyperlink"/><Relationship Id="rId20" Target="https://github.com/sasi-upparapalli/infosys_crowdcount_october2025_sasi-upparapalli" TargetMode="External" Type="http://schemas.openxmlformats.org/officeDocument/2006/relationships/hyperlink"/><Relationship Id="rId21" Target="https://github.com/sasi-upparapalli/infosys_crowdcount_october2025_sasi-upparapalli" TargetMode="External" Type="http://schemas.openxmlformats.org/officeDocument/2006/relationships/hyperlink"/><Relationship Id="rId22" Target="https://github.com/sasi-upparapalli/infosys_crowdcount_october2025_sasi-upparapalli" TargetMode="External" Type="http://schemas.openxmlformats.org/officeDocument/2006/relationships/hyperlink"/><Relationship Id="rId23" Target="https://github.com/sasi-upparapalli/infosys_crowdcount_october2025_sasi-upparapalli" TargetMode="External" Type="http://schemas.openxmlformats.org/officeDocument/2006/relationships/hyperlink"/><Relationship Id="rId24" Target="https://sasi-upparapalli.github.io/Crowd-Count/" TargetMode="External" Type="http://schemas.openxmlformats.org/officeDocument/2006/relationships/hyperlink"/><Relationship Id="rId25" Target="../media/image1.png" Type="http://schemas.openxmlformats.org/officeDocument/2006/relationships/image"/><Relationship Id="rId3" Target="https://github.com/sasi-upparapalli/infosys_crowdcount_october2025_sasi-upparapalli" TargetMode="External" Type="http://schemas.openxmlformats.org/officeDocument/2006/relationships/hyperlink"/><Relationship Id="rId4" Target="https://github.com/sasi-upparapalli/infosys_crowdcount_october2025_sasi-upparapalli" TargetMode="External" Type="http://schemas.openxmlformats.org/officeDocument/2006/relationships/hyperlink"/><Relationship Id="rId5" Target="https://github.com/sasi-upparapalli/infosys_crowdcount_october2025_sasi-upparapalli" TargetMode="External" Type="http://schemas.openxmlformats.org/officeDocument/2006/relationships/hyperlink"/><Relationship Id="rId6" Target="https://github.com/sasi-upparapalli/infosys_crowdcount_october2025_sasi-upparapalli" TargetMode="External" Type="http://schemas.openxmlformats.org/officeDocument/2006/relationships/hyperlink"/><Relationship Id="rId7" Target="https://github.com/sasi-upparapalli/infosys_crowdcount_october2025_sasi-upparapalli" TargetMode="External" Type="http://schemas.openxmlformats.org/officeDocument/2006/relationships/hyperlink"/><Relationship Id="rId8" Target="https://github.com/sasi-upparapalli/infosys_crowdcount_october2025_sasi-upparapalli" TargetMode="External" Type="http://schemas.openxmlformats.org/officeDocument/2006/relationships/hyperlink"/><Relationship Id="rId9" Target="https://github.com/sasi-upparapalli/infosys_crowdcount_october2025_sasi-upparapalli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8.png" Type="http://schemas.openxmlformats.org/officeDocument/2006/relationships/image"/><Relationship Id="rId5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embeddings/oleObject2.bin" Type="http://schemas.openxmlformats.org/officeDocument/2006/relationships/oleObject"/><Relationship Id="rId4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16" Target="../media/image1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embeddings/oleObject3.bin" Type="http://schemas.openxmlformats.org/officeDocument/2006/relationships/oleObject"/><Relationship Id="rId4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1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2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5844" y="2185345"/>
            <a:ext cx="14846296" cy="744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4"/>
              </a:lnSpc>
            </a:pPr>
            <a:r>
              <a:rPr lang="en-US" b="true" sz="2540" spc="12">
                <a:solidFill>
                  <a:srgbClr val="E52C31"/>
                </a:solidFill>
                <a:latin typeface="Open Sans Bold"/>
                <a:ea typeface="Open Sans Bold"/>
                <a:cs typeface="Open Sans Bold"/>
                <a:sym typeface="Open Sans Bold"/>
                <a:hlinkClick r:id="rId2" tooltip="https://github.com/sasi-upparapalli/infosys_crowdcount_october2025_sasi-upparapalli"/>
              </a:rPr>
              <a:t>Project Details:</a:t>
            </a:r>
          </a:p>
          <a:p>
            <a:pPr algn="l">
              <a:lnSpc>
                <a:spcPts val="3734"/>
              </a:lnSpc>
            </a:pPr>
            <a:r>
              <a:rPr lang="en-US" b="true" sz="2540" spc="12">
                <a:solidFill>
                  <a:srgbClr val="1800AD"/>
                </a:solidFill>
                <a:latin typeface="Open Sans Bold"/>
                <a:ea typeface="Open Sans Bold"/>
                <a:cs typeface="Open Sans Bold"/>
                <a:sym typeface="Open Sans Bold"/>
                <a:hlinkClick r:id="rId3" tooltip="https://github.com/sasi-upparapalli/infosys_crowdcount_october2025_sasi-upparapalli"/>
              </a:rPr>
              <a:t>Project Title -</a:t>
            </a:r>
            <a:r>
              <a:rPr lang="en-US" b="true" sz="2540" spc="1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4" tooltip="https://github.com/sasi-upparapalli/infosys_crowdcount_october2025_sasi-upparapalli"/>
              </a:rPr>
              <a:t> CrowdCount-People Counting Using Video Analytics </a:t>
            </a:r>
          </a:p>
          <a:p>
            <a:pPr algn="l">
              <a:lnSpc>
                <a:spcPts val="3734"/>
              </a:lnSpc>
            </a:pPr>
            <a:r>
              <a:rPr lang="en-US" b="true" sz="2540" spc="12">
                <a:solidFill>
                  <a:srgbClr val="1800AD"/>
                </a:solidFill>
                <a:latin typeface="Open Sans Bold"/>
                <a:ea typeface="Open Sans Bold"/>
                <a:cs typeface="Open Sans Bold"/>
                <a:sym typeface="Open Sans Bold"/>
                <a:hlinkClick r:id="rId5" tooltip="https://github.com/sasi-upparapalli/infosys_crowdcount_october2025_sasi-upparapalli"/>
              </a:rPr>
              <a:t>Project Purpose -</a:t>
            </a:r>
            <a:r>
              <a:rPr lang="en-US" b="true" sz="2540" spc="1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6" tooltip="https://github.com/sasi-upparapalli/infosys_crowdcount_october2025_sasi-upparapalli"/>
              </a:rPr>
              <a:t> </a:t>
            </a:r>
          </a:p>
          <a:p>
            <a:pPr algn="l" marL="548547" indent="-274273" lvl="1">
              <a:lnSpc>
                <a:spcPts val="3734"/>
              </a:lnSpc>
              <a:buFont typeface="Arial"/>
              <a:buChar char="•"/>
            </a:pPr>
            <a:r>
              <a:rPr lang="en-US" sz="2540" spc="1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7" tooltip="https://github.com/sasi-upparapalli/infosys_crowdcount_october2025_sasi-upparapalli"/>
              </a:rPr>
              <a:t>Detect, track, and count people in real time from live or recorded video feeds.</a:t>
            </a:r>
          </a:p>
          <a:p>
            <a:pPr algn="l" marL="548547" indent="-274273" lvl="1">
              <a:lnSpc>
                <a:spcPts val="3734"/>
              </a:lnSpc>
              <a:buFont typeface="Arial"/>
              <a:buChar char="•"/>
            </a:pPr>
            <a:r>
              <a:rPr lang="en-US" sz="2540" spc="1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8" tooltip="https://github.com/sasi-upparapalli/infosys_crowdcount_october2025_sasi-upparapalli"/>
              </a:rPr>
              <a:t>Help organizations and event managers monitor crowd density and ensure safety compliance.</a:t>
            </a:r>
          </a:p>
          <a:p>
            <a:pPr algn="l" marL="548547" indent="-274273" lvl="1">
              <a:lnSpc>
                <a:spcPts val="3734"/>
              </a:lnSpc>
              <a:buFont typeface="Arial"/>
              <a:buChar char="•"/>
            </a:pPr>
            <a:r>
              <a:rPr lang="en-US" sz="2540" spc="1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9" tooltip="https://github.com/sasi-upparapalli/infosys_crowdcount_october2025_sasi-upparapalli"/>
              </a:rPr>
              <a:t>Provide smart alerts, visual dashboards, and live statistics for better crowd management and decision-making.</a:t>
            </a:r>
          </a:p>
          <a:p>
            <a:pPr algn="l">
              <a:lnSpc>
                <a:spcPts val="3734"/>
              </a:lnSpc>
            </a:pPr>
            <a:r>
              <a:rPr lang="en-US" b="true" sz="2540" spc="12">
                <a:solidFill>
                  <a:srgbClr val="1800AD"/>
                </a:solidFill>
                <a:latin typeface="Open Sans Bold"/>
                <a:ea typeface="Open Sans Bold"/>
                <a:cs typeface="Open Sans Bold"/>
                <a:sym typeface="Open Sans Bold"/>
                <a:hlinkClick r:id="rId10" tooltip="https://github.com/sasi-upparapalli/infosys_crowdcount_october2025_sasi-upparapalli"/>
              </a:rPr>
              <a:t>Tools and Technologies -</a:t>
            </a:r>
            <a:r>
              <a:rPr lang="en-US" b="true" sz="2540" spc="1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11" tooltip="https://github.com/sasi-upparapalli/infosys_crowdcount_october2025_sasi-upparapalli"/>
              </a:rPr>
              <a:t> Python, Flask, OpenCV, YOLOv8, SQLite, JavaScript, Chart.js</a:t>
            </a:r>
          </a:p>
          <a:p>
            <a:pPr algn="l">
              <a:lnSpc>
                <a:spcPts val="3734"/>
              </a:lnSpc>
            </a:pPr>
            <a:r>
              <a:rPr lang="en-US" b="true" sz="2540" spc="1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12" tooltip="https://github.com/sasi-upparapalli/infosys_crowdcount_october2025_sasi-upparapalli"/>
              </a:rPr>
              <a:t>Mentor - </a:t>
            </a:r>
            <a:r>
              <a:rPr lang="en-US" b="true" sz="2540" spc="12">
                <a:solidFill>
                  <a:srgbClr val="1800AD"/>
                </a:solidFill>
                <a:latin typeface="Open Sans Bold"/>
                <a:ea typeface="Open Sans Bold"/>
                <a:cs typeface="Open Sans Bold"/>
                <a:sym typeface="Open Sans Bold"/>
                <a:hlinkClick r:id="rId13" tooltip="https://github.com/sasi-upparapalli/infosys_crowdcount_october2025_sasi-upparapalli"/>
              </a:rPr>
              <a:t>Ms.Umme Asma S</a:t>
            </a:r>
          </a:p>
          <a:p>
            <a:pPr algn="l">
              <a:lnSpc>
                <a:spcPts val="3734"/>
              </a:lnSpc>
            </a:pPr>
            <a:r>
              <a:rPr lang="en-US" b="true" sz="2540" spc="1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14" tooltip="https://github.com/sasi-upparapalli/infosys_crowdcount_october2025_sasi-upparapalli"/>
              </a:rPr>
              <a:t>Batch Number – </a:t>
            </a:r>
            <a:r>
              <a:rPr lang="en-US" b="true" sz="2540" spc="12">
                <a:solidFill>
                  <a:srgbClr val="5E17EB"/>
                </a:solidFill>
                <a:latin typeface="Open Sans Bold"/>
                <a:ea typeface="Open Sans Bold"/>
                <a:cs typeface="Open Sans Bold"/>
                <a:sym typeface="Open Sans Bold"/>
                <a:hlinkClick r:id="rId15" tooltip="https://github.com/sasi-upparapalli/infosys_crowdcount_october2025_sasi-upparapalli"/>
              </a:rPr>
              <a:t>3</a:t>
            </a:r>
          </a:p>
          <a:p>
            <a:pPr algn="l">
              <a:lnSpc>
                <a:spcPts val="3734"/>
              </a:lnSpc>
            </a:pPr>
            <a:r>
              <a:rPr lang="en-US" b="true" sz="2540" spc="1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16" tooltip="https://github.com/sasi-upparapalli/infosys_crowdcount_october2025_sasi-upparapalli"/>
              </a:rPr>
              <a:t>Start Date -</a:t>
            </a:r>
            <a:r>
              <a:rPr lang="en-US" b="true" sz="2540" spc="12">
                <a:solidFill>
                  <a:srgbClr val="5E17EB"/>
                </a:solidFill>
                <a:latin typeface="Open Sans Bold"/>
                <a:ea typeface="Open Sans Bold"/>
                <a:cs typeface="Open Sans Bold"/>
                <a:sym typeface="Open Sans Bold"/>
                <a:hlinkClick r:id="rId17" tooltip="https://github.com/sasi-upparapalli/infosys_crowdcount_october2025_sasi-upparapalli"/>
              </a:rPr>
              <a:t> </a:t>
            </a:r>
            <a:r>
              <a:rPr lang="en-US" b="true" sz="2540" spc="12">
                <a:solidFill>
                  <a:srgbClr val="1800AD"/>
                </a:solidFill>
                <a:latin typeface="Open Sans Bold"/>
                <a:ea typeface="Open Sans Bold"/>
                <a:cs typeface="Open Sans Bold"/>
                <a:sym typeface="Open Sans Bold"/>
                <a:hlinkClick r:id="rId18" tooltip="https://github.com/sasi-upparapalli/infosys_crowdcount_october2025_sasi-upparapalli"/>
              </a:rPr>
              <a:t>22-September-2025</a:t>
            </a:r>
          </a:p>
          <a:p>
            <a:pPr algn="l">
              <a:lnSpc>
                <a:spcPts val="3734"/>
              </a:lnSpc>
            </a:pPr>
            <a:r>
              <a:rPr lang="en-US" b="true" sz="2540" spc="1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19" tooltip="https://github.com/sasi-upparapalli/infosys_crowdcount_october2025_sasi-upparapalli"/>
              </a:rPr>
              <a:t>Intern Name -</a:t>
            </a:r>
            <a:r>
              <a:rPr lang="en-US" b="true" sz="2540" spc="12">
                <a:solidFill>
                  <a:srgbClr val="1800AD"/>
                </a:solidFill>
                <a:latin typeface="Open Sans Bold"/>
                <a:ea typeface="Open Sans Bold"/>
                <a:cs typeface="Open Sans Bold"/>
                <a:sym typeface="Open Sans Bold"/>
                <a:hlinkClick r:id="rId20" tooltip="https://github.com/sasi-upparapalli/infosys_crowdcount_october2025_sasi-upparapalli"/>
              </a:rPr>
              <a:t> U Surya Sasikanth</a:t>
            </a:r>
          </a:p>
          <a:p>
            <a:pPr algn="l">
              <a:lnSpc>
                <a:spcPts val="3734"/>
              </a:lnSpc>
            </a:pPr>
            <a:r>
              <a:rPr lang="en-US" b="true" sz="2540" spc="1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21" tooltip="https://github.com/sasi-upparapalli/infosys_crowdcount_october2025_sasi-upparapalli"/>
              </a:rPr>
              <a:t>GitHub Repository -</a:t>
            </a:r>
            <a:r>
              <a:rPr lang="en-US" sz="2540" spc="12">
                <a:solidFill>
                  <a:srgbClr val="1800AD"/>
                </a:solidFill>
                <a:latin typeface="Open Sans"/>
                <a:ea typeface="Open Sans"/>
                <a:cs typeface="Open Sans"/>
                <a:sym typeface="Open Sans"/>
                <a:hlinkClick r:id="rId22" tooltip="https://github.com/sasi-upparapalli/infosys_crowdcount_october2025_sasi-upparapalli"/>
              </a:rPr>
              <a:t> </a:t>
            </a:r>
          </a:p>
          <a:p>
            <a:pPr algn="l">
              <a:lnSpc>
                <a:spcPts val="3734"/>
              </a:lnSpc>
            </a:pPr>
            <a:r>
              <a:rPr lang="en-US" sz="2540" spc="12" u="sng">
                <a:solidFill>
                  <a:srgbClr val="1800AD"/>
                </a:solidFill>
                <a:latin typeface="Open Sans"/>
                <a:ea typeface="Open Sans"/>
                <a:cs typeface="Open Sans"/>
                <a:sym typeface="Open Sans"/>
                <a:hlinkClick r:id="rId23" tooltip="https://github.com/sasi-upparapalli/infosys_crowdcount_october2025_sasi-upparapalli"/>
              </a:rPr>
              <a:t>https://github.com/sasi-upparapalli/infosys_crowdcount_october2025_sasi-upparapalli</a:t>
            </a:r>
          </a:p>
          <a:p>
            <a:pPr algn="l">
              <a:lnSpc>
                <a:spcPts val="3734"/>
              </a:lnSpc>
            </a:pPr>
            <a:r>
              <a:rPr lang="en-US" sz="2540" spc="12" b="true">
                <a:solidFill>
                  <a:srgbClr val="00000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 Overview-</a:t>
            </a:r>
          </a:p>
          <a:p>
            <a:pPr algn="l">
              <a:lnSpc>
                <a:spcPts val="3734"/>
              </a:lnSpc>
            </a:pPr>
            <a:r>
              <a:rPr lang="en-US" sz="2540" spc="12" u="sng">
                <a:solidFill>
                  <a:srgbClr val="1800AD"/>
                </a:solidFill>
                <a:latin typeface="Open Sans"/>
                <a:ea typeface="Open Sans"/>
                <a:cs typeface="Open Sans"/>
                <a:sym typeface="Open Sans"/>
                <a:hlinkClick r:id="rId24" tooltip="https://sasi-upparapalli.github.io/Crowd-Count/"/>
              </a:rPr>
              <a:t>https://sasi-upparapalli.github.io/Crowd-Count/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294073" y="447444"/>
            <a:ext cx="5665218" cy="1614075"/>
          </a:xfrm>
          <a:custGeom>
            <a:avLst/>
            <a:gdLst/>
            <a:ahLst/>
            <a:cxnLst/>
            <a:rect r="r" b="b" t="t" l="l"/>
            <a:pathLst>
              <a:path h="1614075" w="5665218">
                <a:moveTo>
                  <a:pt x="0" y="0"/>
                </a:moveTo>
                <a:lnTo>
                  <a:pt x="5665218" y="0"/>
                </a:lnTo>
                <a:lnTo>
                  <a:pt x="5665218" y="1614076"/>
                </a:lnTo>
                <a:lnTo>
                  <a:pt x="0" y="161407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-10450" t="-19526" r="-9330" b="-10277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2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729986"/>
            <a:ext cx="16230600" cy="7528314"/>
            <a:chOff x="0" y="0"/>
            <a:chExt cx="4274726" cy="19827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982766"/>
            </a:xfrm>
            <a:custGeom>
              <a:avLst/>
              <a:gdLst/>
              <a:ahLst/>
              <a:cxnLst/>
              <a:rect r="r" b="b" t="t" l="l"/>
              <a:pathLst>
                <a:path h="1982766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958439"/>
                  </a:lnTo>
                  <a:cubicBezTo>
                    <a:pt x="4274726" y="1964891"/>
                    <a:pt x="4272163" y="1971079"/>
                    <a:pt x="4267601" y="1975641"/>
                  </a:cubicBezTo>
                  <a:cubicBezTo>
                    <a:pt x="4263039" y="1980203"/>
                    <a:pt x="4256851" y="1982766"/>
                    <a:pt x="4250399" y="1982766"/>
                  </a:cubicBezTo>
                  <a:lnTo>
                    <a:pt x="24327" y="1982766"/>
                  </a:lnTo>
                  <a:cubicBezTo>
                    <a:pt x="10891" y="1982766"/>
                    <a:pt x="0" y="1971874"/>
                    <a:pt x="0" y="195843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020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15182" y="2893032"/>
            <a:ext cx="5643857" cy="5202223"/>
            <a:chOff x="0" y="0"/>
            <a:chExt cx="1486448" cy="1370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86448" cy="1370133"/>
            </a:xfrm>
            <a:custGeom>
              <a:avLst/>
              <a:gdLst/>
              <a:ahLst/>
              <a:cxnLst/>
              <a:rect r="r" b="b" t="t" l="l"/>
              <a:pathLst>
                <a:path h="1370133" w="1486448">
                  <a:moveTo>
                    <a:pt x="69959" y="0"/>
                  </a:moveTo>
                  <a:lnTo>
                    <a:pt x="1416489" y="0"/>
                  </a:lnTo>
                  <a:cubicBezTo>
                    <a:pt x="1435043" y="0"/>
                    <a:pt x="1452838" y="7371"/>
                    <a:pt x="1465957" y="20490"/>
                  </a:cubicBezTo>
                  <a:cubicBezTo>
                    <a:pt x="1479077" y="33610"/>
                    <a:pt x="1486448" y="51405"/>
                    <a:pt x="1486448" y="69959"/>
                  </a:cubicBezTo>
                  <a:lnTo>
                    <a:pt x="1486448" y="1300174"/>
                  </a:lnTo>
                  <a:cubicBezTo>
                    <a:pt x="1486448" y="1318728"/>
                    <a:pt x="1479077" y="1336522"/>
                    <a:pt x="1465957" y="1349642"/>
                  </a:cubicBezTo>
                  <a:cubicBezTo>
                    <a:pt x="1452838" y="1362762"/>
                    <a:pt x="1435043" y="1370133"/>
                    <a:pt x="1416489" y="1370133"/>
                  </a:cubicBezTo>
                  <a:lnTo>
                    <a:pt x="69959" y="1370133"/>
                  </a:lnTo>
                  <a:cubicBezTo>
                    <a:pt x="31322" y="1370133"/>
                    <a:pt x="0" y="1338811"/>
                    <a:pt x="0" y="1300174"/>
                  </a:cubicBezTo>
                  <a:lnTo>
                    <a:pt x="0" y="69959"/>
                  </a:lnTo>
                  <a:cubicBezTo>
                    <a:pt x="0" y="51405"/>
                    <a:pt x="7371" y="33610"/>
                    <a:pt x="20490" y="20490"/>
                  </a:cubicBezTo>
                  <a:cubicBezTo>
                    <a:pt x="33610" y="7371"/>
                    <a:pt x="51405" y="0"/>
                    <a:pt x="69959" y="0"/>
                  </a:cubicBezTo>
                  <a:close/>
                </a:path>
              </a:pathLst>
            </a:custGeom>
            <a:solidFill>
              <a:srgbClr val="83BE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86448" cy="1408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70748" y="2985238"/>
            <a:ext cx="8880535" cy="5145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072" indent="-315536" lvl="1">
              <a:lnSpc>
                <a:spcPts val="4092"/>
              </a:lnSpc>
              <a:buFont typeface="Arial"/>
              <a:buChar char="•"/>
            </a:pPr>
            <a:r>
              <a:rPr lang="en-US" b="true" sz="292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⚠️ Manual crowd monitoring is</a:t>
            </a:r>
            <a:r>
              <a:rPr lang="en-US" b="true" sz="2922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 inefficient and labor-intensive.</a:t>
            </a:r>
          </a:p>
          <a:p>
            <a:pPr algn="l" marL="631072" indent="-315536" lvl="1">
              <a:lnSpc>
                <a:spcPts val="4092"/>
              </a:lnSpc>
              <a:buFont typeface="Arial"/>
              <a:buChar char="•"/>
            </a:pPr>
            <a:r>
              <a:rPr lang="en-US" b="true" sz="292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🕒 Lack of real-tim</a:t>
            </a:r>
            <a:r>
              <a:rPr lang="en-US" b="true" sz="292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 data leads to </a:t>
            </a:r>
            <a:r>
              <a:rPr lang="en-US" b="true" sz="2922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delayed safety</a:t>
            </a:r>
            <a:r>
              <a:rPr lang="en-US" b="true" sz="292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action</a:t>
            </a:r>
            <a:r>
              <a:rPr lang="en-US" b="true" sz="292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292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algn="l" marL="631072" indent="-315536" lvl="1">
              <a:lnSpc>
                <a:spcPts val="409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2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👁️ </a:t>
            </a:r>
            <a:r>
              <a:rPr lang="en-US" b="true" sz="2922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No accurate way</a:t>
            </a:r>
            <a:r>
              <a:rPr lang="en-US" b="true" sz="292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to track</a:t>
            </a:r>
            <a:r>
              <a:rPr lang="en-US" b="true" sz="292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occupancy dynamically in public or closed spaces.</a:t>
            </a:r>
          </a:p>
          <a:p>
            <a:pPr algn="l" marL="631072" indent="-315536" lvl="1">
              <a:lnSpc>
                <a:spcPts val="409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2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💰 </a:t>
            </a:r>
            <a:r>
              <a:rPr lang="en-US" b="true" sz="2922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High cost and human error</a:t>
            </a:r>
            <a:r>
              <a:rPr lang="en-US" b="true" sz="292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in traditional crowd management systems.</a:t>
            </a:r>
          </a:p>
          <a:p>
            <a:pPr algn="l" marL="631072" indent="-315536" lvl="1">
              <a:lnSpc>
                <a:spcPts val="409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2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🔐 </a:t>
            </a:r>
            <a:r>
              <a:rPr lang="en-US" b="true" sz="2922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Limited integration</a:t>
            </a:r>
            <a:r>
              <a:rPr lang="en-US" b="true" sz="292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with smart surveillance networks reduces scalability.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156205" y="5143500"/>
            <a:ext cx="3161810" cy="2640730"/>
          </a:xfrm>
          <a:custGeom>
            <a:avLst/>
            <a:gdLst/>
            <a:ahLst/>
            <a:cxnLst/>
            <a:rect r="r" b="b" t="t" l="l"/>
            <a:pathLst>
              <a:path h="2640730" w="3161810">
                <a:moveTo>
                  <a:pt x="0" y="0"/>
                </a:moveTo>
                <a:lnTo>
                  <a:pt x="3161811" y="0"/>
                </a:lnTo>
                <a:lnTo>
                  <a:pt x="3161811" y="2640730"/>
                </a:lnTo>
                <a:lnTo>
                  <a:pt x="0" y="2640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74432" y="3215459"/>
            <a:ext cx="1325357" cy="2278684"/>
          </a:xfrm>
          <a:custGeom>
            <a:avLst/>
            <a:gdLst/>
            <a:ahLst/>
            <a:cxnLst/>
            <a:rect r="r" b="b" t="t" l="l"/>
            <a:pathLst>
              <a:path h="2278684" w="1325357">
                <a:moveTo>
                  <a:pt x="0" y="0"/>
                </a:moveTo>
                <a:lnTo>
                  <a:pt x="1325357" y="0"/>
                </a:lnTo>
                <a:lnTo>
                  <a:pt x="1325357" y="2278684"/>
                </a:lnTo>
                <a:lnTo>
                  <a:pt x="0" y="227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523826" y="346894"/>
            <a:ext cx="11658019" cy="1027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62"/>
              </a:lnSpc>
              <a:spcBef>
                <a:spcPct val="0"/>
              </a:spcBef>
            </a:pPr>
            <a:r>
              <a:rPr lang="en-US" sz="6044">
                <a:solidFill>
                  <a:srgbClr val="000000"/>
                </a:solidFill>
                <a:latin typeface="Rowdies"/>
                <a:ea typeface="Rowdies"/>
                <a:cs typeface="Rowdies"/>
                <a:sym typeface="Rowdies"/>
              </a:rPr>
              <a:t>Problem</a:t>
            </a:r>
            <a:r>
              <a:rPr lang="en-US" sz="6044">
                <a:solidFill>
                  <a:srgbClr val="E52C31"/>
                </a:solidFill>
                <a:latin typeface="Rowdies"/>
                <a:ea typeface="Rowdies"/>
                <a:cs typeface="Rowdies"/>
                <a:sym typeface="Rowdies"/>
              </a:rPr>
              <a:t> </a:t>
            </a:r>
            <a:r>
              <a:rPr lang="en-US" sz="6044">
                <a:solidFill>
                  <a:srgbClr val="5E17EB"/>
                </a:solidFill>
                <a:latin typeface="Rowdies"/>
                <a:ea typeface="Rowdies"/>
                <a:cs typeface="Rowdies"/>
                <a:sym typeface="Rowdies"/>
              </a:rPr>
              <a:t>St</a:t>
            </a:r>
            <a:r>
              <a:rPr lang="en-US" sz="6044">
                <a:solidFill>
                  <a:srgbClr val="5E17EB"/>
                </a:solidFill>
                <a:latin typeface="Rowdies"/>
                <a:ea typeface="Rowdies"/>
                <a:cs typeface="Rowdies"/>
                <a:sym typeface="Rowdies"/>
              </a:rPr>
              <a:t>atement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0" y="226320"/>
            <a:ext cx="1588278" cy="469748"/>
          </a:xfrm>
          <a:custGeom>
            <a:avLst/>
            <a:gdLst/>
            <a:ahLst/>
            <a:cxnLst/>
            <a:rect r="r" b="b" t="t" l="l"/>
            <a:pathLst>
              <a:path h="469748" w="1588278">
                <a:moveTo>
                  <a:pt x="0" y="0"/>
                </a:moveTo>
                <a:lnTo>
                  <a:pt x="1588278" y="0"/>
                </a:lnTo>
                <a:lnTo>
                  <a:pt x="1588278" y="469748"/>
                </a:lnTo>
                <a:lnTo>
                  <a:pt x="0" y="4697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1000"/>
            </a:blip>
            <a:stretch>
              <a:fillRect l="-13070" t="-19526" r="-11272" b="-10277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2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6976" y="699346"/>
            <a:ext cx="9580582" cy="8888308"/>
          </a:xfrm>
          <a:custGeom>
            <a:avLst/>
            <a:gdLst/>
            <a:ahLst/>
            <a:cxnLst/>
            <a:rect r="r" b="b" t="t" l="l"/>
            <a:pathLst>
              <a:path h="8888308" w="9580582">
                <a:moveTo>
                  <a:pt x="0" y="0"/>
                </a:moveTo>
                <a:lnTo>
                  <a:pt x="9580582" y="0"/>
                </a:lnTo>
                <a:lnTo>
                  <a:pt x="9580582" y="8888308"/>
                </a:lnTo>
                <a:lnTo>
                  <a:pt x="0" y="8888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3" r="0" b="-32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39481" y="1437277"/>
            <a:ext cx="13607266" cy="2637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77"/>
              </a:lnSpc>
            </a:pPr>
            <a:r>
              <a:rPr lang="en-US" sz="7555">
                <a:solidFill>
                  <a:srgbClr val="5E17EB"/>
                </a:solidFill>
                <a:latin typeface="Rowdies"/>
                <a:ea typeface="Rowdies"/>
                <a:cs typeface="Rowdies"/>
                <a:sym typeface="Rowdies"/>
              </a:rPr>
              <a:t>Proposed </a:t>
            </a:r>
          </a:p>
          <a:p>
            <a:pPr algn="ctr">
              <a:lnSpc>
                <a:spcPts val="10577"/>
              </a:lnSpc>
              <a:spcBef>
                <a:spcPct val="0"/>
              </a:spcBef>
            </a:pPr>
            <a:r>
              <a:rPr lang="en-US" sz="7555">
                <a:solidFill>
                  <a:srgbClr val="000000"/>
                </a:solidFill>
                <a:latin typeface="Rowdies"/>
                <a:ea typeface="Rowdies"/>
                <a:cs typeface="Rowdies"/>
                <a:sym typeface="Rowdies"/>
              </a:rPr>
              <a:t>S</a:t>
            </a:r>
            <a:r>
              <a:rPr lang="en-US" sz="7555">
                <a:solidFill>
                  <a:srgbClr val="000000"/>
                </a:solidFill>
                <a:latin typeface="Rowdies"/>
                <a:ea typeface="Rowdies"/>
                <a:cs typeface="Rowdies"/>
                <a:sym typeface="Rowdies"/>
              </a:rPr>
              <a:t>olu</a:t>
            </a:r>
            <a:r>
              <a:rPr lang="en-US" sz="7555">
                <a:solidFill>
                  <a:srgbClr val="000000"/>
                </a:solidFill>
                <a:latin typeface="Rowdies"/>
                <a:ea typeface="Rowdies"/>
                <a:cs typeface="Rowdies"/>
                <a:sym typeface="Rowdies"/>
              </a:rPr>
              <a:t>t</a:t>
            </a:r>
            <a:r>
              <a:rPr lang="en-US" sz="7555">
                <a:solidFill>
                  <a:srgbClr val="000000"/>
                </a:solidFill>
                <a:latin typeface="Rowdies"/>
                <a:ea typeface="Rowdies"/>
                <a:cs typeface="Rowdies"/>
                <a:sym typeface="Rowdies"/>
              </a:rPr>
              <a:t>io</a:t>
            </a:r>
            <a:r>
              <a:rPr lang="en-US" sz="7555">
                <a:solidFill>
                  <a:srgbClr val="000000"/>
                </a:solidFill>
                <a:latin typeface="Rowdies"/>
                <a:ea typeface="Rowdies"/>
                <a:cs typeface="Rowdies"/>
                <a:sym typeface="Rowdies"/>
              </a:rPr>
              <a:t>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61609" y="5415952"/>
            <a:ext cx="10299630" cy="340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0054" indent="-420027" lvl="1">
              <a:lnSpc>
                <a:spcPts val="5447"/>
              </a:lnSpc>
              <a:buFont typeface="Arial"/>
              <a:buChar char="•"/>
            </a:pPr>
            <a:r>
              <a:rPr lang="en-US" b="true" sz="38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Automated detection and counting using </a:t>
            </a:r>
            <a:r>
              <a:rPr lang="en-US" b="true" sz="3890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YOLOv8</a:t>
            </a:r>
            <a:r>
              <a:rPr lang="en-US" b="true" sz="38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l" marL="840054" indent="-420027" lvl="1">
              <a:lnSpc>
                <a:spcPts val="5447"/>
              </a:lnSpc>
              <a:buFont typeface="Arial"/>
              <a:buChar char="•"/>
            </a:pPr>
            <a:r>
              <a:rPr lang="en-US" b="true" sz="38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tracking with </a:t>
            </a:r>
            <a:r>
              <a:rPr lang="en-US" b="true" sz="3890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Deep SORT</a:t>
            </a:r>
            <a:r>
              <a:rPr lang="en-US" b="true" sz="38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l" marL="840054" indent="-420027" lvl="1">
              <a:lnSpc>
                <a:spcPts val="5447"/>
              </a:lnSpc>
              <a:buFont typeface="Arial"/>
              <a:buChar char="•"/>
            </a:pPr>
            <a:r>
              <a:rPr lang="en-US" b="true" sz="38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dashboard for live </a:t>
            </a:r>
            <a:r>
              <a:rPr lang="en-US" b="true" sz="3890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stats and alerts</a:t>
            </a:r>
            <a:r>
              <a:rPr lang="en-US" b="true" sz="38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226320"/>
            <a:ext cx="1588278" cy="469748"/>
          </a:xfrm>
          <a:custGeom>
            <a:avLst/>
            <a:gdLst/>
            <a:ahLst/>
            <a:cxnLst/>
            <a:rect r="r" b="b" t="t" l="l"/>
            <a:pathLst>
              <a:path h="469748" w="1588278">
                <a:moveTo>
                  <a:pt x="0" y="0"/>
                </a:moveTo>
                <a:lnTo>
                  <a:pt x="1588278" y="0"/>
                </a:lnTo>
                <a:lnTo>
                  <a:pt x="1588278" y="469748"/>
                </a:lnTo>
                <a:lnTo>
                  <a:pt x="0" y="4697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-13070" t="-19526" r="-11272" b="-10277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2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851182" y="1556640"/>
          <a:ext cx="3771900" cy="4400550"/>
        </p:xfrm>
        <a:graphic>
          <a:graphicData uri="http://schemas.openxmlformats.org/presentationml/2006/ole">
            <p:oleObj imgW="4648200" imgH="5270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2265020" y="305689"/>
            <a:ext cx="15308525" cy="9497766"/>
            <a:chOff x="0" y="0"/>
            <a:chExt cx="20411367" cy="1266368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9446127" y="1667935"/>
              <a:ext cx="10965240" cy="10995753"/>
              <a:chOff x="0" y="0"/>
              <a:chExt cx="2165973" cy="2172001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165973" cy="2172001"/>
              </a:xfrm>
              <a:custGeom>
                <a:avLst/>
                <a:gdLst/>
                <a:ahLst/>
                <a:cxnLst/>
                <a:rect r="r" b="b" t="t" l="l"/>
                <a:pathLst>
                  <a:path h="2172001" w="2165973">
                    <a:moveTo>
                      <a:pt x="48011" y="0"/>
                    </a:moveTo>
                    <a:lnTo>
                      <a:pt x="2117962" y="0"/>
                    </a:lnTo>
                    <a:cubicBezTo>
                      <a:pt x="2130696" y="0"/>
                      <a:pt x="2142907" y="5058"/>
                      <a:pt x="2151911" y="14062"/>
                    </a:cubicBezTo>
                    <a:cubicBezTo>
                      <a:pt x="2160915" y="23066"/>
                      <a:pt x="2165973" y="35278"/>
                      <a:pt x="2165973" y="48011"/>
                    </a:cubicBezTo>
                    <a:lnTo>
                      <a:pt x="2165973" y="2123990"/>
                    </a:lnTo>
                    <a:cubicBezTo>
                      <a:pt x="2165973" y="2150506"/>
                      <a:pt x="2144478" y="2172001"/>
                      <a:pt x="2117962" y="2172001"/>
                    </a:cubicBezTo>
                    <a:lnTo>
                      <a:pt x="48011" y="2172001"/>
                    </a:lnTo>
                    <a:cubicBezTo>
                      <a:pt x="21495" y="2172001"/>
                      <a:pt x="0" y="2150506"/>
                      <a:pt x="0" y="2123990"/>
                    </a:cubicBezTo>
                    <a:lnTo>
                      <a:pt x="0" y="48011"/>
                    </a:lnTo>
                    <a:cubicBezTo>
                      <a:pt x="0" y="21495"/>
                      <a:pt x="21495" y="0"/>
                      <a:pt x="48011" y="0"/>
                    </a:cubicBezTo>
                    <a:close/>
                  </a:path>
                </a:pathLst>
              </a:custGeom>
              <a:solidFill>
                <a:srgbClr val="B1C9D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165973" cy="22101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0320970" y="2558035"/>
              <a:ext cx="9215554" cy="9215554"/>
            </a:xfrm>
            <a:custGeom>
              <a:avLst/>
              <a:gdLst/>
              <a:ahLst/>
              <a:cxnLst/>
              <a:rect r="r" b="b" t="t" l="l"/>
              <a:pathLst>
                <a:path h="9215554" w="9215554">
                  <a:moveTo>
                    <a:pt x="0" y="0"/>
                  </a:moveTo>
                  <a:lnTo>
                    <a:pt x="9215554" y="0"/>
                  </a:lnTo>
                  <a:lnTo>
                    <a:pt x="9215554" y="9215553"/>
                  </a:lnTo>
                  <a:lnTo>
                    <a:pt x="0" y="9215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-114300"/>
              <a:ext cx="18343946" cy="13985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861"/>
                </a:lnSpc>
                <a:spcBef>
                  <a:spcPct val="0"/>
                </a:spcBef>
              </a:pPr>
              <a:r>
                <a:rPr lang="en-US" sz="6329">
                  <a:solidFill>
                    <a:srgbClr val="5E17EB"/>
                  </a:solidFill>
                  <a:latin typeface="Rowdies"/>
                  <a:ea typeface="Rowdies"/>
                  <a:cs typeface="Rowdies"/>
                  <a:sym typeface="Rowdies"/>
                </a:rPr>
                <a:t>Real-World </a:t>
              </a:r>
              <a:r>
                <a:rPr lang="en-US" sz="6329">
                  <a:solidFill>
                    <a:srgbClr val="000000"/>
                  </a:solidFill>
                  <a:latin typeface="Rowdies"/>
                  <a:ea typeface="Rowdies"/>
                  <a:cs typeface="Rowdies"/>
                  <a:sym typeface="Rowdies"/>
                </a:rPr>
                <a:t>Implementation </a:t>
              </a:r>
              <a:r>
                <a:rPr lang="en-US" sz="6329">
                  <a:solidFill>
                    <a:srgbClr val="5E17EB"/>
                  </a:solidFill>
                  <a:latin typeface="Rowdies"/>
                  <a:ea typeface="Rowdies"/>
                  <a:cs typeface="Rowdies"/>
                  <a:sym typeface="Rowdies"/>
                </a:rPr>
                <a:t>Areas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226320"/>
            <a:ext cx="1588278" cy="469748"/>
          </a:xfrm>
          <a:custGeom>
            <a:avLst/>
            <a:gdLst/>
            <a:ahLst/>
            <a:cxnLst/>
            <a:rect r="r" b="b" t="t" l="l"/>
            <a:pathLst>
              <a:path h="469748" w="1588278">
                <a:moveTo>
                  <a:pt x="0" y="0"/>
                </a:moveTo>
                <a:lnTo>
                  <a:pt x="1588278" y="0"/>
                </a:lnTo>
                <a:lnTo>
                  <a:pt x="1588278" y="469748"/>
                </a:lnTo>
                <a:lnTo>
                  <a:pt x="0" y="4697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1000"/>
            </a:blip>
            <a:stretch>
              <a:fillRect l="-13070" t="-19526" r="-11272" b="-10277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2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231579"/>
            <a:ext cx="7593367" cy="4281377"/>
            <a:chOff x="0" y="0"/>
            <a:chExt cx="1999899" cy="11276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9899" cy="1127605"/>
            </a:xfrm>
            <a:custGeom>
              <a:avLst/>
              <a:gdLst/>
              <a:ahLst/>
              <a:cxnLst/>
              <a:rect r="r" b="b" t="t" l="l"/>
              <a:pathLst>
                <a:path h="1127605" w="1999899">
                  <a:moveTo>
                    <a:pt x="51998" y="0"/>
                  </a:moveTo>
                  <a:lnTo>
                    <a:pt x="1947901" y="0"/>
                  </a:lnTo>
                  <a:cubicBezTo>
                    <a:pt x="1976619" y="0"/>
                    <a:pt x="1999899" y="23280"/>
                    <a:pt x="1999899" y="51998"/>
                  </a:cubicBezTo>
                  <a:lnTo>
                    <a:pt x="1999899" y="1075608"/>
                  </a:lnTo>
                  <a:cubicBezTo>
                    <a:pt x="1999899" y="1089398"/>
                    <a:pt x="1994421" y="1102624"/>
                    <a:pt x="1984670" y="1112376"/>
                  </a:cubicBezTo>
                  <a:cubicBezTo>
                    <a:pt x="1974918" y="1122127"/>
                    <a:pt x="1961692" y="1127605"/>
                    <a:pt x="1947901" y="1127605"/>
                  </a:cubicBezTo>
                  <a:lnTo>
                    <a:pt x="51998" y="1127605"/>
                  </a:lnTo>
                  <a:cubicBezTo>
                    <a:pt x="23280" y="1127605"/>
                    <a:pt x="0" y="1104325"/>
                    <a:pt x="0" y="1075608"/>
                  </a:cubicBezTo>
                  <a:lnTo>
                    <a:pt x="0" y="51998"/>
                  </a:lnTo>
                  <a:cubicBezTo>
                    <a:pt x="0" y="23280"/>
                    <a:pt x="23280" y="0"/>
                    <a:pt x="5199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99899" cy="1165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65933" y="1231579"/>
            <a:ext cx="7593367" cy="4281377"/>
            <a:chOff x="0" y="0"/>
            <a:chExt cx="1999899" cy="11276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9899" cy="1127605"/>
            </a:xfrm>
            <a:custGeom>
              <a:avLst/>
              <a:gdLst/>
              <a:ahLst/>
              <a:cxnLst/>
              <a:rect r="r" b="b" t="t" l="l"/>
              <a:pathLst>
                <a:path h="1127605" w="1999899">
                  <a:moveTo>
                    <a:pt x="51998" y="0"/>
                  </a:moveTo>
                  <a:lnTo>
                    <a:pt x="1947901" y="0"/>
                  </a:lnTo>
                  <a:cubicBezTo>
                    <a:pt x="1976619" y="0"/>
                    <a:pt x="1999899" y="23280"/>
                    <a:pt x="1999899" y="51998"/>
                  </a:cubicBezTo>
                  <a:lnTo>
                    <a:pt x="1999899" y="1075608"/>
                  </a:lnTo>
                  <a:cubicBezTo>
                    <a:pt x="1999899" y="1089398"/>
                    <a:pt x="1994421" y="1102624"/>
                    <a:pt x="1984670" y="1112376"/>
                  </a:cubicBezTo>
                  <a:cubicBezTo>
                    <a:pt x="1974918" y="1122127"/>
                    <a:pt x="1961692" y="1127605"/>
                    <a:pt x="1947901" y="1127605"/>
                  </a:cubicBezTo>
                  <a:lnTo>
                    <a:pt x="51998" y="1127605"/>
                  </a:lnTo>
                  <a:cubicBezTo>
                    <a:pt x="23280" y="1127605"/>
                    <a:pt x="0" y="1104325"/>
                    <a:pt x="0" y="1075608"/>
                  </a:cubicBezTo>
                  <a:lnTo>
                    <a:pt x="0" y="51998"/>
                  </a:lnTo>
                  <a:cubicBezTo>
                    <a:pt x="0" y="23280"/>
                    <a:pt x="23280" y="0"/>
                    <a:pt x="5199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99899" cy="1165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153556" y="5654569"/>
            <a:ext cx="14462340" cy="4248312"/>
          </a:xfrm>
          <a:custGeom>
            <a:avLst/>
            <a:gdLst/>
            <a:ahLst/>
            <a:cxnLst/>
            <a:rect r="r" b="b" t="t" l="l"/>
            <a:pathLst>
              <a:path h="4248312" w="14462340">
                <a:moveTo>
                  <a:pt x="0" y="0"/>
                </a:moveTo>
                <a:lnTo>
                  <a:pt x="14462339" y="0"/>
                </a:lnTo>
                <a:lnTo>
                  <a:pt x="14462339" y="4248312"/>
                </a:lnTo>
                <a:lnTo>
                  <a:pt x="0" y="424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E33924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3177003" y="-6131"/>
            <a:ext cx="13203209" cy="1034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7"/>
              </a:lnSpc>
              <a:spcBef>
                <a:spcPct val="0"/>
              </a:spcBef>
            </a:pPr>
            <a:r>
              <a:rPr lang="en-US" sz="6133">
                <a:solidFill>
                  <a:srgbClr val="000000"/>
                </a:solidFill>
                <a:latin typeface="Rowdies"/>
                <a:ea typeface="Rowdies"/>
                <a:cs typeface="Rowdies"/>
                <a:sym typeface="Rowdies"/>
              </a:rPr>
              <a:t>Proj</a:t>
            </a:r>
            <a:r>
              <a:rPr lang="en-US" sz="6133">
                <a:solidFill>
                  <a:srgbClr val="000000"/>
                </a:solidFill>
                <a:latin typeface="Rowdies"/>
                <a:ea typeface="Rowdies"/>
                <a:cs typeface="Rowdies"/>
                <a:sym typeface="Rowdies"/>
              </a:rPr>
              <a:t>ect</a:t>
            </a:r>
            <a:r>
              <a:rPr lang="en-US" sz="6133">
                <a:solidFill>
                  <a:srgbClr val="E52C31"/>
                </a:solidFill>
                <a:latin typeface="Rowdies"/>
                <a:ea typeface="Rowdies"/>
                <a:cs typeface="Rowdies"/>
                <a:sym typeface="Rowdies"/>
              </a:rPr>
              <a:t> </a:t>
            </a:r>
            <a:r>
              <a:rPr lang="en-US" sz="6133">
                <a:solidFill>
                  <a:srgbClr val="5E17EB"/>
                </a:solidFill>
                <a:latin typeface="Rowdies"/>
                <a:ea typeface="Rowdies"/>
                <a:cs typeface="Rowdies"/>
                <a:sym typeface="Rowdies"/>
              </a:rPr>
              <a:t>Architecture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8991" y="1650285"/>
            <a:ext cx="7132784" cy="318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Frontend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Built using </a:t>
            </a:r>
            <a:r>
              <a:rPr lang="en-US" sz="2199">
                <a:solidFill>
                  <a:srgbClr val="5E17EB"/>
                </a:solidFill>
                <a:latin typeface="Sniglet"/>
                <a:ea typeface="Sniglet"/>
                <a:cs typeface="Sniglet"/>
                <a:sym typeface="Sniglet"/>
              </a:rPr>
              <a:t>HTML, CSS, and JavaScript</a:t>
            </a:r>
            <a:r>
              <a:rPr lang="en-US" sz="21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for an interactive user interface.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E17EB"/>
                </a:solidFill>
                <a:latin typeface="Sniglet"/>
                <a:ea typeface="Sniglet"/>
                <a:cs typeface="Sniglet"/>
                <a:sym typeface="Sniglet"/>
              </a:rPr>
              <a:t>Canvas API</a:t>
            </a:r>
            <a:r>
              <a:rPr lang="en-US" sz="21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used for drawing and managing detection zones.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E17EB"/>
                </a:solidFill>
                <a:latin typeface="Sniglet"/>
                <a:ea typeface="Sniglet"/>
                <a:cs typeface="Sniglet"/>
                <a:sym typeface="Sniglet"/>
              </a:rPr>
              <a:t>Chart.js</a:t>
            </a:r>
            <a:r>
              <a:rPr lang="en-US" sz="21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visualizes real-time crowd data and alerts.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Provides user dashboards and admin panels for control and monitoring.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96224" y="1455022"/>
            <a:ext cx="7132784" cy="3577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599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Backend</a:t>
            </a:r>
          </a:p>
          <a:p>
            <a:pPr algn="just" marL="474978" indent="-237489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strike="noStrike" u="non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Developed using </a:t>
            </a:r>
            <a:r>
              <a:rPr lang="en-US" sz="2199" strike="noStrike" u="none">
                <a:solidFill>
                  <a:srgbClr val="5E17EB"/>
                </a:solidFill>
                <a:latin typeface="Sniglet"/>
                <a:ea typeface="Sniglet"/>
                <a:cs typeface="Sniglet"/>
                <a:sym typeface="Sniglet"/>
              </a:rPr>
              <a:t>Flask (Python)</a:t>
            </a:r>
            <a:r>
              <a:rPr lang="en-US" sz="2199" strike="noStrike" u="non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as the main web server.</a:t>
            </a:r>
          </a:p>
          <a:p>
            <a:pPr algn="just" marL="474978" indent="-237489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strike="noStrike" u="non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Handles video stream processing and model inference (</a:t>
            </a:r>
            <a:r>
              <a:rPr lang="en-US" sz="2199" strike="noStrike" u="none">
                <a:solidFill>
                  <a:srgbClr val="5E17EB"/>
                </a:solidFill>
                <a:latin typeface="Sniglet"/>
                <a:ea typeface="Sniglet"/>
                <a:cs typeface="Sniglet"/>
                <a:sym typeface="Sniglet"/>
              </a:rPr>
              <a:t>YOLOv8 + Deep SORT</a:t>
            </a:r>
            <a:r>
              <a:rPr lang="en-US" sz="2199" strike="noStrike" u="non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).</a:t>
            </a:r>
          </a:p>
          <a:p>
            <a:pPr algn="just" marL="474978" indent="-237489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strike="noStrike" u="non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Communicates with SQLite3 database to save zones, logs, and user data.</a:t>
            </a:r>
          </a:p>
          <a:p>
            <a:pPr algn="just" marL="474978" indent="-237489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strike="noStrike" u="non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Provides </a:t>
            </a:r>
            <a:r>
              <a:rPr lang="en-US" sz="2199" strike="noStrike" u="none">
                <a:solidFill>
                  <a:srgbClr val="5E17EB"/>
                </a:solidFill>
                <a:latin typeface="Sniglet"/>
                <a:ea typeface="Sniglet"/>
                <a:cs typeface="Sniglet"/>
                <a:sym typeface="Sniglet"/>
              </a:rPr>
              <a:t>REST APIs</a:t>
            </a:r>
            <a:r>
              <a:rPr lang="en-US" sz="2199" strike="noStrike" u="non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for uploading videos, tracking, exporting reports, etc.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0" y="226320"/>
            <a:ext cx="1588278" cy="469748"/>
          </a:xfrm>
          <a:custGeom>
            <a:avLst/>
            <a:gdLst/>
            <a:ahLst/>
            <a:cxnLst/>
            <a:rect r="r" b="b" t="t" l="l"/>
            <a:pathLst>
              <a:path h="469748" w="1588278">
                <a:moveTo>
                  <a:pt x="0" y="0"/>
                </a:moveTo>
                <a:lnTo>
                  <a:pt x="1588278" y="0"/>
                </a:lnTo>
                <a:lnTo>
                  <a:pt x="1588278" y="469748"/>
                </a:lnTo>
                <a:lnTo>
                  <a:pt x="0" y="4697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-13070" t="-19526" r="-11272" b="-10277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2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578574" y="1467647"/>
          <a:ext cx="3771900" cy="6286500"/>
        </p:xfrm>
        <a:graphic>
          <a:graphicData uri="http://schemas.openxmlformats.org/presentationml/2006/ole">
            <p:oleObj imgW="5029200" imgH="7543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3905512" y="405660"/>
            <a:ext cx="10400775" cy="91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3"/>
              </a:lnSpc>
              <a:spcBef>
                <a:spcPct val="0"/>
              </a:spcBef>
            </a:pPr>
            <a:r>
              <a:rPr lang="en-US" sz="5316">
                <a:solidFill>
                  <a:srgbClr val="5E17EB"/>
                </a:solidFill>
                <a:latin typeface="Rowdies"/>
                <a:ea typeface="Rowdies"/>
                <a:cs typeface="Rowdies"/>
                <a:sym typeface="Rowdies"/>
              </a:rPr>
              <a:t>Tech</a:t>
            </a:r>
            <a:r>
              <a:rPr lang="en-US" sz="5316">
                <a:solidFill>
                  <a:srgbClr val="E52C31"/>
                </a:solidFill>
                <a:latin typeface="Rowdies"/>
                <a:ea typeface="Rowdies"/>
                <a:cs typeface="Rowdies"/>
                <a:sym typeface="Rowdies"/>
              </a:rPr>
              <a:t> </a:t>
            </a:r>
            <a:r>
              <a:rPr lang="en-US" sz="5316">
                <a:solidFill>
                  <a:srgbClr val="000001"/>
                </a:solidFill>
                <a:latin typeface="Rowdies"/>
                <a:ea typeface="Rowdies"/>
                <a:cs typeface="Rowdies"/>
                <a:sym typeface="Rowdies"/>
              </a:rPr>
              <a:t>Stack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226320"/>
            <a:ext cx="1588278" cy="469748"/>
          </a:xfrm>
          <a:custGeom>
            <a:avLst/>
            <a:gdLst/>
            <a:ahLst/>
            <a:cxnLst/>
            <a:rect r="r" b="b" t="t" l="l"/>
            <a:pathLst>
              <a:path h="469748" w="1588278">
                <a:moveTo>
                  <a:pt x="0" y="0"/>
                </a:moveTo>
                <a:lnTo>
                  <a:pt x="1588278" y="0"/>
                </a:lnTo>
                <a:lnTo>
                  <a:pt x="1588278" y="469748"/>
                </a:lnTo>
                <a:lnTo>
                  <a:pt x="0" y="469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1000"/>
            </a:blip>
            <a:stretch>
              <a:fillRect l="-13070" t="-19526" r="-11272" b="-10277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2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6632" y="1345143"/>
            <a:ext cx="4360852" cy="4028270"/>
            <a:chOff x="0" y="0"/>
            <a:chExt cx="1148537" cy="1060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8537" cy="1060944"/>
            </a:xfrm>
            <a:custGeom>
              <a:avLst/>
              <a:gdLst/>
              <a:ahLst/>
              <a:cxnLst/>
              <a:rect r="r" b="b" t="t" l="l"/>
              <a:pathLst>
                <a:path h="1060944" w="1148537">
                  <a:moveTo>
                    <a:pt x="90541" y="0"/>
                  </a:moveTo>
                  <a:lnTo>
                    <a:pt x="1057996" y="0"/>
                  </a:lnTo>
                  <a:cubicBezTo>
                    <a:pt x="1082009" y="0"/>
                    <a:pt x="1105038" y="9539"/>
                    <a:pt x="1122018" y="26519"/>
                  </a:cubicBezTo>
                  <a:cubicBezTo>
                    <a:pt x="1138998" y="43499"/>
                    <a:pt x="1148537" y="66528"/>
                    <a:pt x="1148537" y="90541"/>
                  </a:cubicBezTo>
                  <a:lnTo>
                    <a:pt x="1148537" y="970402"/>
                  </a:lnTo>
                  <a:cubicBezTo>
                    <a:pt x="1148537" y="994415"/>
                    <a:pt x="1138998" y="1017445"/>
                    <a:pt x="1122018" y="1034425"/>
                  </a:cubicBezTo>
                  <a:cubicBezTo>
                    <a:pt x="1105038" y="1051404"/>
                    <a:pt x="1082009" y="1060944"/>
                    <a:pt x="1057996" y="1060944"/>
                  </a:cubicBezTo>
                  <a:lnTo>
                    <a:pt x="90541" y="1060944"/>
                  </a:lnTo>
                  <a:cubicBezTo>
                    <a:pt x="40537" y="1060944"/>
                    <a:pt x="0" y="1020407"/>
                    <a:pt x="0" y="970402"/>
                  </a:cubicBezTo>
                  <a:lnTo>
                    <a:pt x="0" y="90541"/>
                  </a:lnTo>
                  <a:cubicBezTo>
                    <a:pt x="0" y="40537"/>
                    <a:pt x="40537" y="0"/>
                    <a:pt x="905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48537" cy="1099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31529" y="1345143"/>
            <a:ext cx="4360852" cy="4028270"/>
            <a:chOff x="0" y="0"/>
            <a:chExt cx="1148537" cy="1060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8537" cy="1060944"/>
            </a:xfrm>
            <a:custGeom>
              <a:avLst/>
              <a:gdLst/>
              <a:ahLst/>
              <a:cxnLst/>
              <a:rect r="r" b="b" t="t" l="l"/>
              <a:pathLst>
                <a:path h="1060944" w="1148537">
                  <a:moveTo>
                    <a:pt x="90541" y="0"/>
                  </a:moveTo>
                  <a:lnTo>
                    <a:pt x="1057996" y="0"/>
                  </a:lnTo>
                  <a:cubicBezTo>
                    <a:pt x="1082009" y="0"/>
                    <a:pt x="1105038" y="9539"/>
                    <a:pt x="1122018" y="26519"/>
                  </a:cubicBezTo>
                  <a:cubicBezTo>
                    <a:pt x="1138998" y="43499"/>
                    <a:pt x="1148537" y="66528"/>
                    <a:pt x="1148537" y="90541"/>
                  </a:cubicBezTo>
                  <a:lnTo>
                    <a:pt x="1148537" y="970402"/>
                  </a:lnTo>
                  <a:cubicBezTo>
                    <a:pt x="1148537" y="994415"/>
                    <a:pt x="1138998" y="1017445"/>
                    <a:pt x="1122018" y="1034425"/>
                  </a:cubicBezTo>
                  <a:cubicBezTo>
                    <a:pt x="1105038" y="1051404"/>
                    <a:pt x="1082009" y="1060944"/>
                    <a:pt x="1057996" y="1060944"/>
                  </a:cubicBezTo>
                  <a:lnTo>
                    <a:pt x="90541" y="1060944"/>
                  </a:lnTo>
                  <a:cubicBezTo>
                    <a:pt x="40537" y="1060944"/>
                    <a:pt x="0" y="1020407"/>
                    <a:pt x="0" y="970402"/>
                  </a:cubicBezTo>
                  <a:lnTo>
                    <a:pt x="0" y="90541"/>
                  </a:lnTo>
                  <a:cubicBezTo>
                    <a:pt x="0" y="40537"/>
                    <a:pt x="40537" y="0"/>
                    <a:pt x="905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48537" cy="1099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46426" y="1345143"/>
            <a:ext cx="4360852" cy="4028270"/>
            <a:chOff x="0" y="0"/>
            <a:chExt cx="1148537" cy="10609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8537" cy="1060944"/>
            </a:xfrm>
            <a:custGeom>
              <a:avLst/>
              <a:gdLst/>
              <a:ahLst/>
              <a:cxnLst/>
              <a:rect r="r" b="b" t="t" l="l"/>
              <a:pathLst>
                <a:path h="1060944" w="1148537">
                  <a:moveTo>
                    <a:pt x="90541" y="0"/>
                  </a:moveTo>
                  <a:lnTo>
                    <a:pt x="1057996" y="0"/>
                  </a:lnTo>
                  <a:cubicBezTo>
                    <a:pt x="1082009" y="0"/>
                    <a:pt x="1105038" y="9539"/>
                    <a:pt x="1122018" y="26519"/>
                  </a:cubicBezTo>
                  <a:cubicBezTo>
                    <a:pt x="1138998" y="43499"/>
                    <a:pt x="1148537" y="66528"/>
                    <a:pt x="1148537" y="90541"/>
                  </a:cubicBezTo>
                  <a:lnTo>
                    <a:pt x="1148537" y="970402"/>
                  </a:lnTo>
                  <a:cubicBezTo>
                    <a:pt x="1148537" y="994415"/>
                    <a:pt x="1138998" y="1017445"/>
                    <a:pt x="1122018" y="1034425"/>
                  </a:cubicBezTo>
                  <a:cubicBezTo>
                    <a:pt x="1105038" y="1051404"/>
                    <a:pt x="1082009" y="1060944"/>
                    <a:pt x="1057996" y="1060944"/>
                  </a:cubicBezTo>
                  <a:lnTo>
                    <a:pt x="90541" y="1060944"/>
                  </a:lnTo>
                  <a:cubicBezTo>
                    <a:pt x="40537" y="1060944"/>
                    <a:pt x="0" y="1020407"/>
                    <a:pt x="0" y="970402"/>
                  </a:cubicBezTo>
                  <a:lnTo>
                    <a:pt x="0" y="90541"/>
                  </a:lnTo>
                  <a:cubicBezTo>
                    <a:pt x="0" y="40537"/>
                    <a:pt x="40537" y="0"/>
                    <a:pt x="905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48537" cy="1099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755010" y="1607688"/>
            <a:ext cx="2284095" cy="2196885"/>
          </a:xfrm>
          <a:custGeom>
            <a:avLst/>
            <a:gdLst/>
            <a:ahLst/>
            <a:cxnLst/>
            <a:rect r="r" b="b" t="t" l="l"/>
            <a:pathLst>
              <a:path h="2196885" w="2284095">
                <a:moveTo>
                  <a:pt x="0" y="0"/>
                </a:moveTo>
                <a:lnTo>
                  <a:pt x="2284095" y="0"/>
                </a:lnTo>
                <a:lnTo>
                  <a:pt x="2284095" y="2196884"/>
                </a:lnTo>
                <a:lnTo>
                  <a:pt x="0" y="21968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18053" y="1640069"/>
            <a:ext cx="2289832" cy="1956766"/>
          </a:xfrm>
          <a:custGeom>
            <a:avLst/>
            <a:gdLst/>
            <a:ahLst/>
            <a:cxnLst/>
            <a:rect r="r" b="b" t="t" l="l"/>
            <a:pathLst>
              <a:path h="1956766" w="2289832">
                <a:moveTo>
                  <a:pt x="0" y="0"/>
                </a:moveTo>
                <a:lnTo>
                  <a:pt x="2289833" y="0"/>
                </a:lnTo>
                <a:lnTo>
                  <a:pt x="2289833" y="1956766"/>
                </a:lnTo>
                <a:lnTo>
                  <a:pt x="0" y="1956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72736" y="1613969"/>
            <a:ext cx="1982866" cy="1982866"/>
          </a:xfrm>
          <a:custGeom>
            <a:avLst/>
            <a:gdLst/>
            <a:ahLst/>
            <a:cxnLst/>
            <a:rect r="r" b="b" t="t" l="l"/>
            <a:pathLst>
              <a:path h="1982866" w="1982866">
                <a:moveTo>
                  <a:pt x="0" y="0"/>
                </a:moveTo>
                <a:lnTo>
                  <a:pt x="1982865" y="0"/>
                </a:lnTo>
                <a:lnTo>
                  <a:pt x="1982865" y="1982866"/>
                </a:lnTo>
                <a:lnTo>
                  <a:pt x="0" y="1982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657201" y="5840139"/>
            <a:ext cx="4360852" cy="4028270"/>
            <a:chOff x="0" y="0"/>
            <a:chExt cx="1148537" cy="10609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8537" cy="1060944"/>
            </a:xfrm>
            <a:custGeom>
              <a:avLst/>
              <a:gdLst/>
              <a:ahLst/>
              <a:cxnLst/>
              <a:rect r="r" b="b" t="t" l="l"/>
              <a:pathLst>
                <a:path h="1060944" w="1148537">
                  <a:moveTo>
                    <a:pt x="90541" y="0"/>
                  </a:moveTo>
                  <a:lnTo>
                    <a:pt x="1057996" y="0"/>
                  </a:lnTo>
                  <a:cubicBezTo>
                    <a:pt x="1082009" y="0"/>
                    <a:pt x="1105038" y="9539"/>
                    <a:pt x="1122018" y="26519"/>
                  </a:cubicBezTo>
                  <a:cubicBezTo>
                    <a:pt x="1138998" y="43499"/>
                    <a:pt x="1148537" y="66528"/>
                    <a:pt x="1148537" y="90541"/>
                  </a:cubicBezTo>
                  <a:lnTo>
                    <a:pt x="1148537" y="970402"/>
                  </a:lnTo>
                  <a:cubicBezTo>
                    <a:pt x="1148537" y="994415"/>
                    <a:pt x="1138998" y="1017445"/>
                    <a:pt x="1122018" y="1034425"/>
                  </a:cubicBezTo>
                  <a:cubicBezTo>
                    <a:pt x="1105038" y="1051404"/>
                    <a:pt x="1082009" y="1060944"/>
                    <a:pt x="1057996" y="1060944"/>
                  </a:cubicBezTo>
                  <a:lnTo>
                    <a:pt x="90541" y="1060944"/>
                  </a:lnTo>
                  <a:cubicBezTo>
                    <a:pt x="40537" y="1060944"/>
                    <a:pt x="0" y="1020407"/>
                    <a:pt x="0" y="970402"/>
                  </a:cubicBezTo>
                  <a:lnTo>
                    <a:pt x="0" y="90541"/>
                  </a:lnTo>
                  <a:cubicBezTo>
                    <a:pt x="0" y="40537"/>
                    <a:pt x="40537" y="0"/>
                    <a:pt x="905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48537" cy="1099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11884" y="5840139"/>
            <a:ext cx="4360852" cy="4028270"/>
            <a:chOff x="0" y="0"/>
            <a:chExt cx="1148537" cy="10609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8537" cy="1060944"/>
            </a:xfrm>
            <a:custGeom>
              <a:avLst/>
              <a:gdLst/>
              <a:ahLst/>
              <a:cxnLst/>
              <a:rect r="r" b="b" t="t" l="l"/>
              <a:pathLst>
                <a:path h="1060944" w="1148537">
                  <a:moveTo>
                    <a:pt x="90541" y="0"/>
                  </a:moveTo>
                  <a:lnTo>
                    <a:pt x="1057996" y="0"/>
                  </a:lnTo>
                  <a:cubicBezTo>
                    <a:pt x="1082009" y="0"/>
                    <a:pt x="1105038" y="9539"/>
                    <a:pt x="1122018" y="26519"/>
                  </a:cubicBezTo>
                  <a:cubicBezTo>
                    <a:pt x="1138998" y="43499"/>
                    <a:pt x="1148537" y="66528"/>
                    <a:pt x="1148537" y="90541"/>
                  </a:cubicBezTo>
                  <a:lnTo>
                    <a:pt x="1148537" y="970402"/>
                  </a:lnTo>
                  <a:cubicBezTo>
                    <a:pt x="1148537" y="994415"/>
                    <a:pt x="1138998" y="1017445"/>
                    <a:pt x="1122018" y="1034425"/>
                  </a:cubicBezTo>
                  <a:cubicBezTo>
                    <a:pt x="1105038" y="1051404"/>
                    <a:pt x="1082009" y="1060944"/>
                    <a:pt x="1057996" y="1060944"/>
                  </a:cubicBezTo>
                  <a:lnTo>
                    <a:pt x="90541" y="1060944"/>
                  </a:lnTo>
                  <a:cubicBezTo>
                    <a:pt x="40537" y="1060944"/>
                    <a:pt x="0" y="1020407"/>
                    <a:pt x="0" y="970402"/>
                  </a:cubicBezTo>
                  <a:lnTo>
                    <a:pt x="0" y="90541"/>
                  </a:lnTo>
                  <a:cubicBezTo>
                    <a:pt x="0" y="40537"/>
                    <a:pt x="40537" y="0"/>
                    <a:pt x="905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148537" cy="1099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1292381" y="5986165"/>
            <a:ext cx="1940117" cy="2458827"/>
          </a:xfrm>
          <a:custGeom>
            <a:avLst/>
            <a:gdLst/>
            <a:ahLst/>
            <a:cxnLst/>
            <a:rect r="r" b="b" t="t" l="l"/>
            <a:pathLst>
              <a:path h="2458827" w="1940117">
                <a:moveTo>
                  <a:pt x="0" y="0"/>
                </a:moveTo>
                <a:lnTo>
                  <a:pt x="1940117" y="0"/>
                </a:lnTo>
                <a:lnTo>
                  <a:pt x="1940117" y="2458827"/>
                </a:lnTo>
                <a:lnTo>
                  <a:pt x="0" y="24588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278605" y="6069608"/>
            <a:ext cx="3118045" cy="2375383"/>
          </a:xfrm>
          <a:custGeom>
            <a:avLst/>
            <a:gdLst/>
            <a:ahLst/>
            <a:cxnLst/>
            <a:rect r="r" b="b" t="t" l="l"/>
            <a:pathLst>
              <a:path h="2375383" w="3118045">
                <a:moveTo>
                  <a:pt x="0" y="0"/>
                </a:moveTo>
                <a:lnTo>
                  <a:pt x="3118045" y="0"/>
                </a:lnTo>
                <a:lnTo>
                  <a:pt x="3118045" y="2375384"/>
                </a:lnTo>
                <a:lnTo>
                  <a:pt x="0" y="23753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296744" y="3359278"/>
            <a:ext cx="1415524" cy="532752"/>
          </a:xfrm>
          <a:custGeom>
            <a:avLst/>
            <a:gdLst/>
            <a:ahLst/>
            <a:cxnLst/>
            <a:rect r="r" b="b" t="t" l="l"/>
            <a:pathLst>
              <a:path h="532752" w="1415524">
                <a:moveTo>
                  <a:pt x="0" y="0"/>
                </a:moveTo>
                <a:lnTo>
                  <a:pt x="1415525" y="0"/>
                </a:lnTo>
                <a:lnTo>
                  <a:pt x="1415525" y="532752"/>
                </a:lnTo>
                <a:lnTo>
                  <a:pt x="0" y="5327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554677" y="3221490"/>
            <a:ext cx="1415524" cy="532752"/>
          </a:xfrm>
          <a:custGeom>
            <a:avLst/>
            <a:gdLst/>
            <a:ahLst/>
            <a:cxnLst/>
            <a:rect r="r" b="b" t="t" l="l"/>
            <a:pathLst>
              <a:path h="532752" w="1415524">
                <a:moveTo>
                  <a:pt x="0" y="0"/>
                </a:moveTo>
                <a:lnTo>
                  <a:pt x="1415525" y="0"/>
                </a:lnTo>
                <a:lnTo>
                  <a:pt x="1415525" y="532752"/>
                </a:lnTo>
                <a:lnTo>
                  <a:pt x="0" y="5327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5556879">
            <a:off x="14824224" y="5811730"/>
            <a:ext cx="1693570" cy="1293272"/>
          </a:xfrm>
          <a:custGeom>
            <a:avLst/>
            <a:gdLst/>
            <a:ahLst/>
            <a:cxnLst/>
            <a:rect r="r" b="b" t="t" l="l"/>
            <a:pathLst>
              <a:path h="1293272" w="1693570">
                <a:moveTo>
                  <a:pt x="0" y="0"/>
                </a:moveTo>
                <a:lnTo>
                  <a:pt x="1693571" y="0"/>
                </a:lnTo>
                <a:lnTo>
                  <a:pt x="1693571" y="1293272"/>
                </a:lnTo>
                <a:lnTo>
                  <a:pt x="0" y="129327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386646" y="140023"/>
            <a:ext cx="13329826" cy="99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6"/>
              </a:lnSpc>
              <a:spcBef>
                <a:spcPct val="0"/>
              </a:spcBef>
            </a:pPr>
            <a:r>
              <a:rPr lang="en-US" sz="5804">
                <a:solidFill>
                  <a:srgbClr val="000000"/>
                </a:solidFill>
                <a:latin typeface="Rowdies"/>
                <a:ea typeface="Rowdies"/>
                <a:cs typeface="Rowdies"/>
                <a:sym typeface="Rowdies"/>
              </a:rPr>
              <a:t>Syste</a:t>
            </a:r>
            <a:r>
              <a:rPr lang="en-US" sz="5804">
                <a:solidFill>
                  <a:srgbClr val="000000"/>
                </a:solidFill>
                <a:latin typeface="Rowdies"/>
                <a:ea typeface="Rowdies"/>
                <a:cs typeface="Rowdies"/>
                <a:sym typeface="Rowdies"/>
              </a:rPr>
              <a:t>m </a:t>
            </a:r>
            <a:r>
              <a:rPr lang="en-US" sz="5804">
                <a:solidFill>
                  <a:srgbClr val="5E17EB"/>
                </a:solidFill>
                <a:latin typeface="Rowdies"/>
                <a:ea typeface="Rowdies"/>
                <a:cs typeface="Rowdies"/>
                <a:sym typeface="Rowdies"/>
              </a:rPr>
              <a:t>Workflow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895048" y="8676005"/>
            <a:ext cx="3885160" cy="112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10"/>
              </a:lnSpc>
              <a:spcBef>
                <a:spcPct val="0"/>
              </a:spcBef>
            </a:pPr>
            <a:r>
              <a:rPr lang="en-US" sz="2150" strike="noStrike" u="non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📊 </a:t>
            </a:r>
            <a:r>
              <a:rPr lang="en-US" sz="2150" strike="noStrike" u="none">
                <a:solidFill>
                  <a:srgbClr val="5E17EB"/>
                </a:solidFill>
                <a:latin typeface="Sniglet"/>
                <a:ea typeface="Sniglet"/>
                <a:cs typeface="Sniglet"/>
                <a:sym typeface="Sniglet"/>
              </a:rPr>
              <a:t>Presentation Layer</a:t>
            </a:r>
            <a:r>
              <a:rPr lang="en-US" sz="2150" strike="noStrike" u="non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– Live dashboard displays analytics, charts, and admin controls.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38088" y="4029017"/>
            <a:ext cx="3517938" cy="111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7"/>
              </a:lnSpc>
              <a:spcBef>
                <a:spcPct val="0"/>
              </a:spcBef>
            </a:pPr>
            <a:r>
              <a:rPr lang="en-US" sz="2148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🎥 </a:t>
            </a:r>
            <a:r>
              <a:rPr lang="en-US" sz="2148">
                <a:solidFill>
                  <a:srgbClr val="5E17EB"/>
                </a:solidFill>
                <a:latin typeface="Sniglet"/>
                <a:ea typeface="Sniglet"/>
                <a:cs typeface="Sniglet"/>
                <a:sym typeface="Sniglet"/>
              </a:rPr>
              <a:t>Input Layer –</a:t>
            </a:r>
            <a:r>
              <a:rPr lang="en-US" sz="2148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Captures live or uploaded video feeds as the main data source.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93227" y="3766472"/>
            <a:ext cx="3516663" cy="150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10"/>
              </a:lnSpc>
              <a:spcBef>
                <a:spcPct val="0"/>
              </a:spcBef>
            </a:pPr>
            <a:r>
              <a:rPr lang="en-US" sz="2150" strike="noStrike" u="non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⚙️ </a:t>
            </a:r>
            <a:r>
              <a:rPr lang="en-US" sz="2150" strike="noStrike" u="none">
                <a:solidFill>
                  <a:srgbClr val="5E17EB"/>
                </a:solidFill>
                <a:latin typeface="Sniglet"/>
                <a:ea typeface="Sniglet"/>
                <a:cs typeface="Sniglet"/>
                <a:sym typeface="Sniglet"/>
              </a:rPr>
              <a:t>Processing Layer –</a:t>
            </a:r>
            <a:r>
              <a:rPr lang="en-US" sz="2150" strike="noStrike" u="non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Flask routes frames to YOLOv8 for detection; Deep SORT tracks individuals with unique IDs.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568856" y="3766472"/>
            <a:ext cx="3590625" cy="150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10"/>
              </a:lnSpc>
              <a:spcBef>
                <a:spcPct val="0"/>
              </a:spcBef>
            </a:pPr>
            <a:r>
              <a:rPr lang="en-US" sz="2150" strike="noStrike" u="non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🧠 </a:t>
            </a:r>
            <a:r>
              <a:rPr lang="en-US" sz="2150" strike="noStrike" u="none">
                <a:solidFill>
                  <a:srgbClr val="5E17EB"/>
                </a:solidFill>
                <a:latin typeface="Sniglet"/>
                <a:ea typeface="Sniglet"/>
                <a:cs typeface="Sniglet"/>
                <a:sym typeface="Sniglet"/>
              </a:rPr>
              <a:t>Analytics Layer </a:t>
            </a:r>
            <a:r>
              <a:rPr lang="en-US" sz="2150" strike="noStrike" u="non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– Counts people per zone, updates in real time, and triggers alerts on threshold breach.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330433" y="8530579"/>
            <a:ext cx="3723754" cy="112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10"/>
              </a:lnSpc>
              <a:spcBef>
                <a:spcPct val="0"/>
              </a:spcBef>
            </a:pPr>
            <a:r>
              <a:rPr lang="en-US" sz="2150" strike="noStrike" u="non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💾</a:t>
            </a:r>
            <a:r>
              <a:rPr lang="en-US" sz="2150" strike="noStrike" u="none">
                <a:solidFill>
                  <a:srgbClr val="5E17EB"/>
                </a:solidFill>
                <a:latin typeface="Sniglet"/>
                <a:ea typeface="Sniglet"/>
                <a:cs typeface="Sniglet"/>
                <a:sym typeface="Sniglet"/>
              </a:rPr>
              <a:t> Storage Layer</a:t>
            </a:r>
            <a:r>
              <a:rPr lang="en-US" sz="2150" strike="noStrike" u="non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– Saves users, zones, logs, and reports in an SQLite database.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-10689333">
            <a:off x="8455208" y="7587898"/>
            <a:ext cx="1415524" cy="532752"/>
          </a:xfrm>
          <a:custGeom>
            <a:avLst/>
            <a:gdLst/>
            <a:ahLst/>
            <a:cxnLst/>
            <a:rect r="r" b="b" t="t" l="l"/>
            <a:pathLst>
              <a:path h="532752" w="1415524">
                <a:moveTo>
                  <a:pt x="0" y="0"/>
                </a:moveTo>
                <a:lnTo>
                  <a:pt x="1415524" y="0"/>
                </a:lnTo>
                <a:lnTo>
                  <a:pt x="1415524" y="532752"/>
                </a:lnTo>
                <a:lnTo>
                  <a:pt x="0" y="5327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0" y="226320"/>
            <a:ext cx="1588278" cy="469748"/>
          </a:xfrm>
          <a:custGeom>
            <a:avLst/>
            <a:gdLst/>
            <a:ahLst/>
            <a:cxnLst/>
            <a:rect r="r" b="b" t="t" l="l"/>
            <a:pathLst>
              <a:path h="469748" w="1588278">
                <a:moveTo>
                  <a:pt x="0" y="0"/>
                </a:moveTo>
                <a:lnTo>
                  <a:pt x="1588278" y="0"/>
                </a:lnTo>
                <a:lnTo>
                  <a:pt x="1588278" y="469748"/>
                </a:lnTo>
                <a:lnTo>
                  <a:pt x="0" y="46974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71000"/>
            </a:blip>
            <a:stretch>
              <a:fillRect l="-13070" t="-19526" r="-11272" b="-10277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2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99156" y="2198656"/>
            <a:ext cx="5889688" cy="588968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52400" cap="sq">
              <a:solidFill>
                <a:srgbClr val="E3392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953770" y="3721437"/>
            <a:ext cx="12380460" cy="304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8"/>
              </a:lnSpc>
            </a:pPr>
            <a:r>
              <a:rPr lang="en-US" sz="5827">
                <a:solidFill>
                  <a:srgbClr val="5E17EB"/>
                </a:solidFill>
                <a:latin typeface="Rowdies"/>
                <a:ea typeface="Rowdies"/>
                <a:cs typeface="Rowdies"/>
                <a:sym typeface="Rowdies"/>
              </a:rPr>
              <a:t>Key Features</a:t>
            </a:r>
          </a:p>
          <a:p>
            <a:pPr algn="ctr">
              <a:lnSpc>
                <a:spcPts val="8158"/>
              </a:lnSpc>
            </a:pPr>
            <a:r>
              <a:rPr lang="en-US" sz="5827">
                <a:solidFill>
                  <a:srgbClr val="5E17EB"/>
                </a:solidFill>
                <a:latin typeface="Rowdies"/>
                <a:ea typeface="Rowdies"/>
                <a:cs typeface="Rowdies"/>
                <a:sym typeface="Rowdies"/>
              </a:rPr>
              <a:t> of</a:t>
            </a:r>
            <a:r>
              <a:rPr lang="en-US" sz="5827">
                <a:solidFill>
                  <a:srgbClr val="000000"/>
                </a:solidFill>
                <a:latin typeface="Rowdies"/>
                <a:ea typeface="Rowdies"/>
                <a:cs typeface="Rowdies"/>
                <a:sym typeface="Rowdies"/>
              </a:rPr>
              <a:t> </a:t>
            </a:r>
          </a:p>
          <a:p>
            <a:pPr algn="ctr">
              <a:lnSpc>
                <a:spcPts val="8158"/>
              </a:lnSpc>
              <a:spcBef>
                <a:spcPct val="0"/>
              </a:spcBef>
            </a:pPr>
            <a:r>
              <a:rPr lang="en-US" sz="5827">
                <a:solidFill>
                  <a:srgbClr val="000000"/>
                </a:solidFill>
                <a:latin typeface="Rowdies"/>
                <a:ea typeface="Rowdies"/>
                <a:cs typeface="Rowdies"/>
                <a:sym typeface="Rowdies"/>
              </a:rPr>
              <a:t>C</a:t>
            </a:r>
            <a:r>
              <a:rPr lang="en-US" sz="5827">
                <a:solidFill>
                  <a:srgbClr val="000000"/>
                </a:solidFill>
                <a:latin typeface="Rowdies"/>
                <a:ea typeface="Rowdies"/>
                <a:cs typeface="Rowdies"/>
                <a:sym typeface="Rowdies"/>
              </a:rPr>
              <a:t>ro</a:t>
            </a:r>
            <a:r>
              <a:rPr lang="en-US" sz="5827">
                <a:solidFill>
                  <a:srgbClr val="000000"/>
                </a:solidFill>
                <a:latin typeface="Rowdies"/>
                <a:ea typeface="Rowdies"/>
                <a:cs typeface="Rowdies"/>
                <a:sym typeface="Rowdies"/>
              </a:rPr>
              <a:t>wdC</a:t>
            </a:r>
            <a:r>
              <a:rPr lang="en-US" sz="5827">
                <a:solidFill>
                  <a:srgbClr val="000000"/>
                </a:solidFill>
                <a:latin typeface="Rowdies"/>
                <a:ea typeface="Rowdies"/>
                <a:cs typeface="Rowdies"/>
                <a:sym typeface="Rowdies"/>
              </a:rPr>
              <a:t>o</a:t>
            </a:r>
            <a:r>
              <a:rPr lang="en-US" sz="5827">
                <a:solidFill>
                  <a:srgbClr val="000000"/>
                </a:solidFill>
                <a:latin typeface="Rowdies"/>
                <a:ea typeface="Rowdies"/>
                <a:cs typeface="Rowdies"/>
                <a:sym typeface="Rowdies"/>
              </a:rPr>
              <a:t>u</a:t>
            </a:r>
            <a:r>
              <a:rPr lang="en-US" sz="5827">
                <a:solidFill>
                  <a:srgbClr val="000000"/>
                </a:solidFill>
                <a:latin typeface="Rowdies"/>
                <a:ea typeface="Rowdies"/>
                <a:cs typeface="Rowdies"/>
                <a:sym typeface="Rowdies"/>
              </a:rPr>
              <a:t>n</a:t>
            </a:r>
            <a:r>
              <a:rPr lang="en-US" sz="5827">
                <a:solidFill>
                  <a:srgbClr val="000000"/>
                </a:solidFill>
                <a:latin typeface="Rowdies"/>
                <a:ea typeface="Rowdies"/>
                <a:cs typeface="Rowdies"/>
                <a:sym typeface="Rowdies"/>
              </a:rPr>
              <a:t>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02179" y="1173640"/>
            <a:ext cx="3175047" cy="2050033"/>
            <a:chOff x="0" y="0"/>
            <a:chExt cx="836226" cy="5399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36226" cy="539926"/>
            </a:xfrm>
            <a:custGeom>
              <a:avLst/>
              <a:gdLst/>
              <a:ahLst/>
              <a:cxnLst/>
              <a:rect r="r" b="b" t="t" l="l"/>
              <a:pathLst>
                <a:path h="539926" w="836226">
                  <a:moveTo>
                    <a:pt x="124357" y="0"/>
                  </a:moveTo>
                  <a:lnTo>
                    <a:pt x="711870" y="0"/>
                  </a:lnTo>
                  <a:cubicBezTo>
                    <a:pt x="744851" y="0"/>
                    <a:pt x="776482" y="13102"/>
                    <a:pt x="799803" y="36423"/>
                  </a:cubicBezTo>
                  <a:cubicBezTo>
                    <a:pt x="823125" y="59745"/>
                    <a:pt x="836226" y="91375"/>
                    <a:pt x="836226" y="124357"/>
                  </a:cubicBezTo>
                  <a:lnTo>
                    <a:pt x="836226" y="415570"/>
                  </a:lnTo>
                  <a:cubicBezTo>
                    <a:pt x="836226" y="448551"/>
                    <a:pt x="823125" y="480182"/>
                    <a:pt x="799803" y="503503"/>
                  </a:cubicBezTo>
                  <a:cubicBezTo>
                    <a:pt x="776482" y="526825"/>
                    <a:pt x="744851" y="539926"/>
                    <a:pt x="711870" y="539926"/>
                  </a:cubicBezTo>
                  <a:lnTo>
                    <a:pt x="124357" y="539926"/>
                  </a:lnTo>
                  <a:cubicBezTo>
                    <a:pt x="91375" y="539926"/>
                    <a:pt x="59745" y="526825"/>
                    <a:pt x="36423" y="503503"/>
                  </a:cubicBezTo>
                  <a:cubicBezTo>
                    <a:pt x="13102" y="480182"/>
                    <a:pt x="0" y="448551"/>
                    <a:pt x="0" y="415570"/>
                  </a:cubicBezTo>
                  <a:lnTo>
                    <a:pt x="0" y="124357"/>
                  </a:lnTo>
                  <a:cubicBezTo>
                    <a:pt x="0" y="91375"/>
                    <a:pt x="13102" y="59745"/>
                    <a:pt x="36423" y="36423"/>
                  </a:cubicBezTo>
                  <a:cubicBezTo>
                    <a:pt x="59745" y="13102"/>
                    <a:pt x="91375" y="0"/>
                    <a:pt x="1243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36226" cy="578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910774" y="1173640"/>
            <a:ext cx="3175047" cy="2050033"/>
            <a:chOff x="0" y="0"/>
            <a:chExt cx="836226" cy="53992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6226" cy="539926"/>
            </a:xfrm>
            <a:custGeom>
              <a:avLst/>
              <a:gdLst/>
              <a:ahLst/>
              <a:cxnLst/>
              <a:rect r="r" b="b" t="t" l="l"/>
              <a:pathLst>
                <a:path h="539926" w="836226">
                  <a:moveTo>
                    <a:pt x="124357" y="0"/>
                  </a:moveTo>
                  <a:lnTo>
                    <a:pt x="711870" y="0"/>
                  </a:lnTo>
                  <a:cubicBezTo>
                    <a:pt x="744851" y="0"/>
                    <a:pt x="776482" y="13102"/>
                    <a:pt x="799803" y="36423"/>
                  </a:cubicBezTo>
                  <a:cubicBezTo>
                    <a:pt x="823125" y="59745"/>
                    <a:pt x="836226" y="91375"/>
                    <a:pt x="836226" y="124357"/>
                  </a:cubicBezTo>
                  <a:lnTo>
                    <a:pt x="836226" y="415570"/>
                  </a:lnTo>
                  <a:cubicBezTo>
                    <a:pt x="836226" y="448551"/>
                    <a:pt x="823125" y="480182"/>
                    <a:pt x="799803" y="503503"/>
                  </a:cubicBezTo>
                  <a:cubicBezTo>
                    <a:pt x="776482" y="526825"/>
                    <a:pt x="744851" y="539926"/>
                    <a:pt x="711870" y="539926"/>
                  </a:cubicBezTo>
                  <a:lnTo>
                    <a:pt x="124357" y="539926"/>
                  </a:lnTo>
                  <a:cubicBezTo>
                    <a:pt x="91375" y="539926"/>
                    <a:pt x="59745" y="526825"/>
                    <a:pt x="36423" y="503503"/>
                  </a:cubicBezTo>
                  <a:cubicBezTo>
                    <a:pt x="13102" y="480182"/>
                    <a:pt x="0" y="448551"/>
                    <a:pt x="0" y="415570"/>
                  </a:cubicBezTo>
                  <a:lnTo>
                    <a:pt x="0" y="124357"/>
                  </a:lnTo>
                  <a:cubicBezTo>
                    <a:pt x="0" y="91375"/>
                    <a:pt x="13102" y="59745"/>
                    <a:pt x="36423" y="36423"/>
                  </a:cubicBezTo>
                  <a:cubicBezTo>
                    <a:pt x="59745" y="13102"/>
                    <a:pt x="91375" y="0"/>
                    <a:pt x="1243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36226" cy="578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02805" y="4118483"/>
            <a:ext cx="3175047" cy="2050033"/>
            <a:chOff x="0" y="0"/>
            <a:chExt cx="836226" cy="5399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6226" cy="539926"/>
            </a:xfrm>
            <a:custGeom>
              <a:avLst/>
              <a:gdLst/>
              <a:ahLst/>
              <a:cxnLst/>
              <a:rect r="r" b="b" t="t" l="l"/>
              <a:pathLst>
                <a:path h="539926" w="836226">
                  <a:moveTo>
                    <a:pt x="124357" y="0"/>
                  </a:moveTo>
                  <a:lnTo>
                    <a:pt x="711870" y="0"/>
                  </a:lnTo>
                  <a:cubicBezTo>
                    <a:pt x="744851" y="0"/>
                    <a:pt x="776482" y="13102"/>
                    <a:pt x="799803" y="36423"/>
                  </a:cubicBezTo>
                  <a:cubicBezTo>
                    <a:pt x="823125" y="59745"/>
                    <a:pt x="836226" y="91375"/>
                    <a:pt x="836226" y="124357"/>
                  </a:cubicBezTo>
                  <a:lnTo>
                    <a:pt x="836226" y="415570"/>
                  </a:lnTo>
                  <a:cubicBezTo>
                    <a:pt x="836226" y="448551"/>
                    <a:pt x="823125" y="480182"/>
                    <a:pt x="799803" y="503503"/>
                  </a:cubicBezTo>
                  <a:cubicBezTo>
                    <a:pt x="776482" y="526825"/>
                    <a:pt x="744851" y="539926"/>
                    <a:pt x="711870" y="539926"/>
                  </a:cubicBezTo>
                  <a:lnTo>
                    <a:pt x="124357" y="539926"/>
                  </a:lnTo>
                  <a:cubicBezTo>
                    <a:pt x="91375" y="539926"/>
                    <a:pt x="59745" y="526825"/>
                    <a:pt x="36423" y="503503"/>
                  </a:cubicBezTo>
                  <a:cubicBezTo>
                    <a:pt x="13102" y="480182"/>
                    <a:pt x="0" y="448551"/>
                    <a:pt x="0" y="415570"/>
                  </a:cubicBezTo>
                  <a:lnTo>
                    <a:pt x="0" y="124357"/>
                  </a:lnTo>
                  <a:cubicBezTo>
                    <a:pt x="0" y="91375"/>
                    <a:pt x="13102" y="59745"/>
                    <a:pt x="36423" y="36423"/>
                  </a:cubicBezTo>
                  <a:cubicBezTo>
                    <a:pt x="59745" y="13102"/>
                    <a:pt x="91375" y="0"/>
                    <a:pt x="1243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36226" cy="578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910774" y="7363827"/>
            <a:ext cx="3175047" cy="2050033"/>
            <a:chOff x="0" y="0"/>
            <a:chExt cx="836226" cy="5399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36226" cy="539926"/>
            </a:xfrm>
            <a:custGeom>
              <a:avLst/>
              <a:gdLst/>
              <a:ahLst/>
              <a:cxnLst/>
              <a:rect r="r" b="b" t="t" l="l"/>
              <a:pathLst>
                <a:path h="539926" w="836226">
                  <a:moveTo>
                    <a:pt x="124357" y="0"/>
                  </a:moveTo>
                  <a:lnTo>
                    <a:pt x="711870" y="0"/>
                  </a:lnTo>
                  <a:cubicBezTo>
                    <a:pt x="744851" y="0"/>
                    <a:pt x="776482" y="13102"/>
                    <a:pt x="799803" y="36423"/>
                  </a:cubicBezTo>
                  <a:cubicBezTo>
                    <a:pt x="823125" y="59745"/>
                    <a:pt x="836226" y="91375"/>
                    <a:pt x="836226" y="124357"/>
                  </a:cubicBezTo>
                  <a:lnTo>
                    <a:pt x="836226" y="415570"/>
                  </a:lnTo>
                  <a:cubicBezTo>
                    <a:pt x="836226" y="448551"/>
                    <a:pt x="823125" y="480182"/>
                    <a:pt x="799803" y="503503"/>
                  </a:cubicBezTo>
                  <a:cubicBezTo>
                    <a:pt x="776482" y="526825"/>
                    <a:pt x="744851" y="539926"/>
                    <a:pt x="711870" y="539926"/>
                  </a:cubicBezTo>
                  <a:lnTo>
                    <a:pt x="124357" y="539926"/>
                  </a:lnTo>
                  <a:cubicBezTo>
                    <a:pt x="91375" y="539926"/>
                    <a:pt x="59745" y="526825"/>
                    <a:pt x="36423" y="503503"/>
                  </a:cubicBezTo>
                  <a:cubicBezTo>
                    <a:pt x="13102" y="480182"/>
                    <a:pt x="0" y="448551"/>
                    <a:pt x="0" y="415570"/>
                  </a:cubicBezTo>
                  <a:lnTo>
                    <a:pt x="0" y="124357"/>
                  </a:lnTo>
                  <a:cubicBezTo>
                    <a:pt x="0" y="91375"/>
                    <a:pt x="13102" y="59745"/>
                    <a:pt x="36423" y="36423"/>
                  </a:cubicBezTo>
                  <a:cubicBezTo>
                    <a:pt x="59745" y="13102"/>
                    <a:pt x="91375" y="0"/>
                    <a:pt x="1243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36226" cy="578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910774" y="4118483"/>
            <a:ext cx="3175047" cy="2050033"/>
            <a:chOff x="0" y="0"/>
            <a:chExt cx="836226" cy="53992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36226" cy="539926"/>
            </a:xfrm>
            <a:custGeom>
              <a:avLst/>
              <a:gdLst/>
              <a:ahLst/>
              <a:cxnLst/>
              <a:rect r="r" b="b" t="t" l="l"/>
              <a:pathLst>
                <a:path h="539926" w="836226">
                  <a:moveTo>
                    <a:pt x="124357" y="0"/>
                  </a:moveTo>
                  <a:lnTo>
                    <a:pt x="711870" y="0"/>
                  </a:lnTo>
                  <a:cubicBezTo>
                    <a:pt x="744851" y="0"/>
                    <a:pt x="776482" y="13102"/>
                    <a:pt x="799803" y="36423"/>
                  </a:cubicBezTo>
                  <a:cubicBezTo>
                    <a:pt x="823125" y="59745"/>
                    <a:pt x="836226" y="91375"/>
                    <a:pt x="836226" y="124357"/>
                  </a:cubicBezTo>
                  <a:lnTo>
                    <a:pt x="836226" y="415570"/>
                  </a:lnTo>
                  <a:cubicBezTo>
                    <a:pt x="836226" y="448551"/>
                    <a:pt x="823125" y="480182"/>
                    <a:pt x="799803" y="503503"/>
                  </a:cubicBezTo>
                  <a:cubicBezTo>
                    <a:pt x="776482" y="526825"/>
                    <a:pt x="744851" y="539926"/>
                    <a:pt x="711870" y="539926"/>
                  </a:cubicBezTo>
                  <a:lnTo>
                    <a:pt x="124357" y="539926"/>
                  </a:lnTo>
                  <a:cubicBezTo>
                    <a:pt x="91375" y="539926"/>
                    <a:pt x="59745" y="526825"/>
                    <a:pt x="36423" y="503503"/>
                  </a:cubicBezTo>
                  <a:cubicBezTo>
                    <a:pt x="13102" y="480182"/>
                    <a:pt x="0" y="448551"/>
                    <a:pt x="0" y="415570"/>
                  </a:cubicBezTo>
                  <a:lnTo>
                    <a:pt x="0" y="124357"/>
                  </a:lnTo>
                  <a:cubicBezTo>
                    <a:pt x="0" y="91375"/>
                    <a:pt x="13102" y="59745"/>
                    <a:pt x="36423" y="36423"/>
                  </a:cubicBezTo>
                  <a:cubicBezTo>
                    <a:pt x="59745" y="13102"/>
                    <a:pt x="91375" y="0"/>
                    <a:pt x="1243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36226" cy="578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908119" y="4389012"/>
            <a:ext cx="3348526" cy="1470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8"/>
              </a:lnSpc>
              <a:spcBef>
                <a:spcPct val="0"/>
              </a:spcBef>
            </a:pPr>
            <a:r>
              <a:rPr lang="en-US" sz="2091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Interactive Dashboard –</a:t>
            </a:r>
            <a:r>
              <a:rPr lang="en-US" sz="2091" strike="noStrike" u="non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Visualizes data using Chart.js (line &amp; bubble charts).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2805" y="7208267"/>
            <a:ext cx="3175047" cy="2050033"/>
            <a:chOff x="0" y="0"/>
            <a:chExt cx="836226" cy="53992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36226" cy="539926"/>
            </a:xfrm>
            <a:custGeom>
              <a:avLst/>
              <a:gdLst/>
              <a:ahLst/>
              <a:cxnLst/>
              <a:rect r="r" b="b" t="t" l="l"/>
              <a:pathLst>
                <a:path h="539926" w="836226">
                  <a:moveTo>
                    <a:pt x="124357" y="0"/>
                  </a:moveTo>
                  <a:lnTo>
                    <a:pt x="711870" y="0"/>
                  </a:lnTo>
                  <a:cubicBezTo>
                    <a:pt x="744851" y="0"/>
                    <a:pt x="776482" y="13102"/>
                    <a:pt x="799803" y="36423"/>
                  </a:cubicBezTo>
                  <a:cubicBezTo>
                    <a:pt x="823125" y="59745"/>
                    <a:pt x="836226" y="91375"/>
                    <a:pt x="836226" y="124357"/>
                  </a:cubicBezTo>
                  <a:lnTo>
                    <a:pt x="836226" y="415570"/>
                  </a:lnTo>
                  <a:cubicBezTo>
                    <a:pt x="836226" y="448551"/>
                    <a:pt x="823125" y="480182"/>
                    <a:pt x="799803" y="503503"/>
                  </a:cubicBezTo>
                  <a:cubicBezTo>
                    <a:pt x="776482" y="526825"/>
                    <a:pt x="744851" y="539926"/>
                    <a:pt x="711870" y="539926"/>
                  </a:cubicBezTo>
                  <a:lnTo>
                    <a:pt x="124357" y="539926"/>
                  </a:lnTo>
                  <a:cubicBezTo>
                    <a:pt x="91375" y="539926"/>
                    <a:pt x="59745" y="526825"/>
                    <a:pt x="36423" y="503503"/>
                  </a:cubicBezTo>
                  <a:cubicBezTo>
                    <a:pt x="13102" y="480182"/>
                    <a:pt x="0" y="448551"/>
                    <a:pt x="0" y="415570"/>
                  </a:cubicBezTo>
                  <a:lnTo>
                    <a:pt x="0" y="124357"/>
                  </a:lnTo>
                  <a:cubicBezTo>
                    <a:pt x="0" y="91375"/>
                    <a:pt x="13102" y="59745"/>
                    <a:pt x="36423" y="36423"/>
                  </a:cubicBezTo>
                  <a:cubicBezTo>
                    <a:pt x="59745" y="13102"/>
                    <a:pt x="91375" y="0"/>
                    <a:pt x="1243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36226" cy="578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29327" y="7488428"/>
            <a:ext cx="3522005" cy="146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Real-T</a:t>
            </a:r>
            <a:r>
              <a:rPr lang="en-US" sz="2099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ime Updates –</a:t>
            </a:r>
            <a:r>
              <a:rPr lang="en-US" sz="20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Automatic refresh of zone counts on the dashboard within seconds.</a:t>
            </a:r>
          </a:p>
        </p:txBody>
      </p:sp>
      <p:sp>
        <p:nvSpPr>
          <p:cNvPr name="AutoShape 26" id="26"/>
          <p:cNvSpPr/>
          <p:nvPr/>
        </p:nvSpPr>
        <p:spPr>
          <a:xfrm>
            <a:off x="4550705" y="2695239"/>
            <a:ext cx="1946045" cy="99502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27" id="27"/>
          <p:cNvSpPr/>
          <p:nvPr/>
        </p:nvSpPr>
        <p:spPr>
          <a:xfrm>
            <a:off x="4465113" y="5103835"/>
            <a:ext cx="1734043" cy="396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28" id="28"/>
          <p:cNvSpPr/>
          <p:nvPr/>
        </p:nvSpPr>
        <p:spPr>
          <a:xfrm flipH="true">
            <a:off x="11823418" y="2639105"/>
            <a:ext cx="1913877" cy="10362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29" id="29"/>
          <p:cNvSpPr/>
          <p:nvPr/>
        </p:nvSpPr>
        <p:spPr>
          <a:xfrm flipV="true">
            <a:off x="12088844" y="5124450"/>
            <a:ext cx="1895871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30" id="30"/>
          <p:cNvSpPr/>
          <p:nvPr/>
        </p:nvSpPr>
        <p:spPr>
          <a:xfrm flipV="true">
            <a:off x="4551331" y="6655565"/>
            <a:ext cx="2181720" cy="157771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31" id="31"/>
          <p:cNvSpPr/>
          <p:nvPr/>
        </p:nvSpPr>
        <p:spPr>
          <a:xfrm flipH="true" flipV="true">
            <a:off x="11595612" y="6838701"/>
            <a:ext cx="2141684" cy="114935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32" id="32"/>
          <p:cNvSpPr txBox="true"/>
          <p:nvPr/>
        </p:nvSpPr>
        <p:spPr>
          <a:xfrm rot="0">
            <a:off x="1290742" y="1684624"/>
            <a:ext cx="3086484" cy="1099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8"/>
              </a:lnSpc>
              <a:spcBef>
                <a:spcPct val="0"/>
              </a:spcBef>
            </a:pPr>
            <a:r>
              <a:rPr lang="en-US" sz="2091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Live People Counting – </a:t>
            </a:r>
            <a:r>
              <a:rPr lang="en-US" sz="209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Real-time detection and tracking using YOLOv8.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984715" y="1498886"/>
            <a:ext cx="3006639" cy="1470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8"/>
              </a:lnSpc>
              <a:spcBef>
                <a:spcPct val="0"/>
              </a:spcBef>
            </a:pPr>
            <a:r>
              <a:rPr lang="en-US" sz="2091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Threshold Alerts –</a:t>
            </a:r>
            <a:r>
              <a:rPr lang="en-US" sz="2091" strike="noStrike" u="non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Notifies users when a zone exceeds its defined capacity.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18611" y="4369962"/>
            <a:ext cx="3030745" cy="1470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8"/>
              </a:lnSpc>
              <a:spcBef>
                <a:spcPct val="0"/>
              </a:spcBef>
            </a:pPr>
            <a:r>
              <a:rPr lang="en-US" sz="2091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Custom Zone Creation –</a:t>
            </a:r>
            <a:r>
              <a:rPr lang="en-US" sz="2091" strike="noStrike" u="non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Draw and manage multiple regions of interest on video feeds.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984715" y="7820093"/>
            <a:ext cx="3083235" cy="1099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8"/>
              </a:lnSpc>
              <a:spcBef>
                <a:spcPct val="0"/>
              </a:spcBef>
            </a:pPr>
            <a:r>
              <a:rPr lang="en-US" sz="2091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Data Export – </a:t>
            </a:r>
            <a:r>
              <a:rPr lang="en-US" sz="2091" strike="noStrike" u="non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Download analytics and logs in CSV or PDF format.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5010698" y="616913"/>
            <a:ext cx="8266604" cy="1581743"/>
            <a:chOff x="0" y="0"/>
            <a:chExt cx="11022139" cy="210899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11022139" cy="1445641"/>
              <a:chOff x="0" y="0"/>
              <a:chExt cx="2177213" cy="285559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177212" cy="285559"/>
              </a:xfrm>
              <a:custGeom>
                <a:avLst/>
                <a:gdLst/>
                <a:ahLst/>
                <a:cxnLst/>
                <a:rect r="r" b="b" t="t" l="l"/>
                <a:pathLst>
                  <a:path h="285559" w="2177212">
                    <a:moveTo>
                      <a:pt x="47763" y="0"/>
                    </a:moveTo>
                    <a:lnTo>
                      <a:pt x="2129449" y="0"/>
                    </a:lnTo>
                    <a:cubicBezTo>
                      <a:pt x="2155828" y="0"/>
                      <a:pt x="2177212" y="21384"/>
                      <a:pt x="2177212" y="47763"/>
                    </a:cubicBezTo>
                    <a:lnTo>
                      <a:pt x="2177212" y="237796"/>
                    </a:lnTo>
                    <a:cubicBezTo>
                      <a:pt x="2177212" y="250463"/>
                      <a:pt x="2172180" y="262612"/>
                      <a:pt x="2163223" y="271569"/>
                    </a:cubicBezTo>
                    <a:cubicBezTo>
                      <a:pt x="2154266" y="280527"/>
                      <a:pt x="2142117" y="285559"/>
                      <a:pt x="2129449" y="285559"/>
                    </a:cubicBezTo>
                    <a:lnTo>
                      <a:pt x="47763" y="285559"/>
                    </a:lnTo>
                    <a:cubicBezTo>
                      <a:pt x="35095" y="285559"/>
                      <a:pt x="22947" y="280527"/>
                      <a:pt x="13989" y="271569"/>
                    </a:cubicBezTo>
                    <a:cubicBezTo>
                      <a:pt x="5032" y="262612"/>
                      <a:pt x="0" y="250463"/>
                      <a:pt x="0" y="237796"/>
                    </a:cubicBezTo>
                    <a:lnTo>
                      <a:pt x="0" y="47763"/>
                    </a:lnTo>
                    <a:cubicBezTo>
                      <a:pt x="0" y="35095"/>
                      <a:pt x="5032" y="22947"/>
                      <a:pt x="13989" y="13989"/>
                    </a:cubicBezTo>
                    <a:cubicBezTo>
                      <a:pt x="22947" y="5032"/>
                      <a:pt x="35095" y="0"/>
                      <a:pt x="4776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2177213" cy="3236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54972" y="268895"/>
              <a:ext cx="10393325" cy="9578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28"/>
                </a:lnSpc>
                <a:spcBef>
                  <a:spcPct val="0"/>
                </a:spcBef>
              </a:pPr>
              <a:r>
                <a:rPr lang="en-US" sz="2091" strike="noStrike" u="none">
                  <a:solidFill>
                    <a:srgbClr val="E33924"/>
                  </a:solidFill>
                  <a:latin typeface="Sniglet"/>
                  <a:ea typeface="Sniglet"/>
                  <a:cs typeface="Sniglet"/>
                  <a:sym typeface="Sniglet"/>
                </a:rPr>
                <a:t>Role-Based Access Control – </a:t>
              </a:r>
              <a:r>
                <a:rPr lang="en-US" sz="2091" strike="noStrike" u="none">
                  <a:solidFill>
                    <a:srgbClr val="000000"/>
                  </a:solidFill>
                  <a:latin typeface="Sniglet"/>
                  <a:ea typeface="Sniglet"/>
                  <a:cs typeface="Sniglet"/>
                  <a:sym typeface="Sniglet"/>
                </a:rPr>
                <a:t>Secure login with admin and user privileges</a:t>
              </a:r>
            </a:p>
          </p:txBody>
        </p:sp>
        <p:sp>
          <p:nvSpPr>
            <p:cNvPr name="AutoShape 41" id="41"/>
            <p:cNvSpPr/>
            <p:nvPr/>
          </p:nvSpPr>
          <p:spPr>
            <a:xfrm>
              <a:off x="5511069" y="1445641"/>
              <a:ext cx="0" cy="663349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oval" len="lg" w="lg"/>
              <a:tailEnd type="oval" len="lg" w="lg"/>
            </a:ln>
          </p:spPr>
        </p:sp>
      </p:grpSp>
      <p:grpSp>
        <p:nvGrpSpPr>
          <p:cNvPr name="Group 42" id="42"/>
          <p:cNvGrpSpPr/>
          <p:nvPr/>
        </p:nvGrpSpPr>
        <p:grpSpPr>
          <a:xfrm rot="-10800000">
            <a:off x="5010698" y="8585856"/>
            <a:ext cx="8266604" cy="1084231"/>
            <a:chOff x="0" y="0"/>
            <a:chExt cx="2177213" cy="28555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77212" cy="285559"/>
            </a:xfrm>
            <a:custGeom>
              <a:avLst/>
              <a:gdLst/>
              <a:ahLst/>
              <a:cxnLst/>
              <a:rect r="r" b="b" t="t" l="l"/>
              <a:pathLst>
                <a:path h="285559" w="2177212">
                  <a:moveTo>
                    <a:pt x="47763" y="0"/>
                  </a:moveTo>
                  <a:lnTo>
                    <a:pt x="2129449" y="0"/>
                  </a:lnTo>
                  <a:cubicBezTo>
                    <a:pt x="2155828" y="0"/>
                    <a:pt x="2177212" y="21384"/>
                    <a:pt x="2177212" y="47763"/>
                  </a:cubicBezTo>
                  <a:lnTo>
                    <a:pt x="2177212" y="237796"/>
                  </a:lnTo>
                  <a:cubicBezTo>
                    <a:pt x="2177212" y="250463"/>
                    <a:pt x="2172180" y="262612"/>
                    <a:pt x="2163223" y="271569"/>
                  </a:cubicBezTo>
                  <a:cubicBezTo>
                    <a:pt x="2154266" y="280527"/>
                    <a:pt x="2142117" y="285559"/>
                    <a:pt x="2129449" y="285559"/>
                  </a:cubicBezTo>
                  <a:lnTo>
                    <a:pt x="47763" y="285559"/>
                  </a:lnTo>
                  <a:cubicBezTo>
                    <a:pt x="35095" y="285559"/>
                    <a:pt x="22947" y="280527"/>
                    <a:pt x="13989" y="271569"/>
                  </a:cubicBezTo>
                  <a:cubicBezTo>
                    <a:pt x="5032" y="262612"/>
                    <a:pt x="0" y="250463"/>
                    <a:pt x="0" y="237796"/>
                  </a:cubicBezTo>
                  <a:lnTo>
                    <a:pt x="0" y="47763"/>
                  </a:lnTo>
                  <a:cubicBezTo>
                    <a:pt x="0" y="35095"/>
                    <a:pt x="5032" y="22947"/>
                    <a:pt x="13989" y="13989"/>
                  </a:cubicBezTo>
                  <a:cubicBezTo>
                    <a:pt x="22947" y="5032"/>
                    <a:pt x="35095" y="0"/>
                    <a:pt x="4776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177213" cy="323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5333556" y="8744958"/>
            <a:ext cx="7794994" cy="727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8"/>
              </a:lnSpc>
              <a:spcBef>
                <a:spcPct val="0"/>
              </a:spcBef>
            </a:pPr>
            <a:r>
              <a:rPr lang="en-US" sz="2091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Mu</a:t>
            </a:r>
            <a:r>
              <a:rPr lang="en-US" sz="2091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l</a:t>
            </a:r>
            <a:r>
              <a:rPr lang="en-US" sz="2091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ti</a:t>
            </a:r>
            <a:r>
              <a:rPr lang="en-US" sz="2091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-</a:t>
            </a:r>
            <a:r>
              <a:rPr lang="en-US" sz="2091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C</a:t>
            </a:r>
            <a:r>
              <a:rPr lang="en-US" sz="2091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a</a:t>
            </a:r>
            <a:r>
              <a:rPr lang="en-US" sz="2091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m</a:t>
            </a:r>
            <a:r>
              <a:rPr lang="en-US" sz="2091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e</a:t>
            </a:r>
            <a:r>
              <a:rPr lang="en-US" sz="2091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ra</a:t>
            </a:r>
            <a:r>
              <a:rPr lang="en-US" sz="2091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091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I</a:t>
            </a:r>
            <a:r>
              <a:rPr lang="en-US" sz="2091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nt</a:t>
            </a:r>
            <a:r>
              <a:rPr lang="en-US" sz="2091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eg</a:t>
            </a:r>
            <a:r>
              <a:rPr lang="en-US" sz="2091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r</a:t>
            </a:r>
            <a:r>
              <a:rPr lang="en-US" sz="2091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ati</a:t>
            </a:r>
            <a:r>
              <a:rPr lang="en-US" sz="2091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o</a:t>
            </a:r>
            <a:r>
              <a:rPr lang="en-US" sz="2091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n</a:t>
            </a:r>
            <a:r>
              <a:rPr lang="en-US" sz="2091" strike="noStrike" u="none">
                <a:solidFill>
                  <a:srgbClr val="E33924"/>
                </a:solidFill>
                <a:latin typeface="Sniglet"/>
                <a:ea typeface="Sniglet"/>
                <a:cs typeface="Sniglet"/>
                <a:sym typeface="Sniglet"/>
              </a:rPr>
              <a:t> – </a:t>
            </a:r>
            <a:r>
              <a:rPr lang="en-US" sz="2091" strike="noStrike" u="non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Add or manage multiple IP or webcam feeds.</a:t>
            </a:r>
          </a:p>
        </p:txBody>
      </p:sp>
      <p:sp>
        <p:nvSpPr>
          <p:cNvPr name="AutoShape 46" id="46"/>
          <p:cNvSpPr/>
          <p:nvPr/>
        </p:nvSpPr>
        <p:spPr>
          <a:xfrm flipV="true">
            <a:off x="9144000" y="8088344"/>
            <a:ext cx="0" cy="49751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47" id="47"/>
          <p:cNvSpPr/>
          <p:nvPr/>
        </p:nvSpPr>
        <p:spPr>
          <a:xfrm flipH="false" flipV="false" rot="0">
            <a:off x="0" y="226320"/>
            <a:ext cx="1588278" cy="469748"/>
          </a:xfrm>
          <a:custGeom>
            <a:avLst/>
            <a:gdLst/>
            <a:ahLst/>
            <a:cxnLst/>
            <a:rect r="r" b="b" t="t" l="l"/>
            <a:pathLst>
              <a:path h="469748" w="1588278">
                <a:moveTo>
                  <a:pt x="0" y="0"/>
                </a:moveTo>
                <a:lnTo>
                  <a:pt x="1588278" y="0"/>
                </a:lnTo>
                <a:lnTo>
                  <a:pt x="1588278" y="469748"/>
                </a:lnTo>
                <a:lnTo>
                  <a:pt x="0" y="46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 l="-13070" t="-19526" r="-11272" b="-10277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2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7137" y="1614590"/>
            <a:ext cx="16082163" cy="7914311"/>
            <a:chOff x="0" y="0"/>
            <a:chExt cx="4235631" cy="20844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35631" cy="2084428"/>
            </a:xfrm>
            <a:custGeom>
              <a:avLst/>
              <a:gdLst/>
              <a:ahLst/>
              <a:cxnLst/>
              <a:rect r="r" b="b" t="t" l="l"/>
              <a:pathLst>
                <a:path h="2084428" w="4235631">
                  <a:moveTo>
                    <a:pt x="24551" y="0"/>
                  </a:moveTo>
                  <a:lnTo>
                    <a:pt x="4211080" y="0"/>
                  </a:lnTo>
                  <a:cubicBezTo>
                    <a:pt x="4224639" y="0"/>
                    <a:pt x="4235631" y="10992"/>
                    <a:pt x="4235631" y="24551"/>
                  </a:cubicBezTo>
                  <a:lnTo>
                    <a:pt x="4235631" y="2059876"/>
                  </a:lnTo>
                  <a:cubicBezTo>
                    <a:pt x="4235631" y="2073436"/>
                    <a:pt x="4224639" y="2084428"/>
                    <a:pt x="4211080" y="2084428"/>
                  </a:cubicBezTo>
                  <a:lnTo>
                    <a:pt x="24551" y="2084428"/>
                  </a:lnTo>
                  <a:cubicBezTo>
                    <a:pt x="10992" y="2084428"/>
                    <a:pt x="0" y="2073436"/>
                    <a:pt x="0" y="2059876"/>
                  </a:cubicBezTo>
                  <a:lnTo>
                    <a:pt x="0" y="24551"/>
                  </a:lnTo>
                  <a:cubicBezTo>
                    <a:pt x="0" y="10992"/>
                    <a:pt x="10992" y="0"/>
                    <a:pt x="245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35631" cy="2122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95250" y="361582"/>
            <a:ext cx="5348281" cy="91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3"/>
              </a:lnSpc>
              <a:spcBef>
                <a:spcPct val="0"/>
              </a:spcBef>
            </a:pPr>
            <a:r>
              <a:rPr lang="en-US" sz="5316">
                <a:solidFill>
                  <a:srgbClr val="000001"/>
                </a:solidFill>
                <a:latin typeface="Rowdies"/>
                <a:ea typeface="Rowdies"/>
                <a:cs typeface="Rowdies"/>
                <a:sym typeface="Rowdies"/>
              </a:rPr>
              <a:t>Exec</a:t>
            </a:r>
            <a:r>
              <a:rPr lang="en-US" sz="5316">
                <a:solidFill>
                  <a:srgbClr val="000001"/>
                </a:solidFill>
                <a:latin typeface="Rowdies"/>
                <a:ea typeface="Rowdies"/>
                <a:cs typeface="Rowdies"/>
                <a:sym typeface="Rowdies"/>
              </a:rPr>
              <a:t>ution</a:t>
            </a:r>
            <a:r>
              <a:rPr lang="en-US" sz="5316">
                <a:solidFill>
                  <a:srgbClr val="E52C31"/>
                </a:solidFill>
                <a:latin typeface="Rowdies"/>
                <a:ea typeface="Rowdies"/>
                <a:cs typeface="Rowdies"/>
                <a:sym typeface="Rowdies"/>
              </a:rPr>
              <a:t> </a:t>
            </a:r>
            <a:r>
              <a:rPr lang="en-US" sz="5316">
                <a:solidFill>
                  <a:srgbClr val="5E17EB"/>
                </a:solidFill>
                <a:latin typeface="Rowdies"/>
                <a:ea typeface="Rowdies"/>
                <a:cs typeface="Rowdies"/>
                <a:sym typeface="Rowdies"/>
              </a:rPr>
              <a:t>Steps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8911" y="2085998"/>
            <a:ext cx="15310179" cy="7184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4"/>
              </a:lnSpc>
            </a:pPr>
            <a:r>
              <a:rPr lang="en-US" sz="2669" b="true">
                <a:solidFill>
                  <a:srgbClr val="E52C31"/>
                </a:solidFill>
                <a:latin typeface="Poppins Bold"/>
                <a:ea typeface="Poppins Bold"/>
                <a:cs typeface="Poppins Bold"/>
                <a:sym typeface="Poppins Bold"/>
              </a:rPr>
              <a:t>1️⃣ Setup Environment</a:t>
            </a:r>
          </a:p>
          <a:p>
            <a:pPr algn="l" marL="576343" indent="-288171" lvl="1">
              <a:lnSpc>
                <a:spcPts val="4084"/>
              </a:lnSpc>
              <a:buFont typeface="Arial"/>
              <a:buChar char="•"/>
            </a:pPr>
            <a:r>
              <a:rPr lang="en-US" b="true" sz="26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Install dependencies</a:t>
            </a:r>
            <a:r>
              <a:rPr lang="en-US" b="true" sz="26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using </a:t>
            </a:r>
            <a:r>
              <a:rPr lang="en-US" b="true" sz="2669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pip install -r requirements.tx</a:t>
            </a:r>
            <a:r>
              <a:rPr lang="en-US" b="true" sz="2669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26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and ensure Python 3.9+ with webcam or vid</a:t>
            </a:r>
            <a:r>
              <a:rPr lang="en-US" b="true" sz="26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eo input.</a:t>
            </a:r>
          </a:p>
          <a:p>
            <a:pPr algn="l">
              <a:lnSpc>
                <a:spcPts val="4084"/>
              </a:lnSpc>
            </a:pPr>
            <a:r>
              <a:rPr lang="en-US" b="true" sz="26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2️⃣</a:t>
            </a:r>
            <a:r>
              <a:rPr lang="en-US" b="true" sz="2669">
                <a:solidFill>
                  <a:srgbClr val="E52C31"/>
                </a:solidFill>
                <a:latin typeface="Poppins Bold"/>
                <a:ea typeface="Poppins Bold"/>
                <a:cs typeface="Poppins Bold"/>
                <a:sym typeface="Poppins Bold"/>
              </a:rPr>
              <a:t> Initialize Database</a:t>
            </a:r>
          </a:p>
          <a:p>
            <a:pPr algn="l" marL="576343" indent="-288171" lvl="1">
              <a:lnSpc>
                <a:spcPts val="4084"/>
              </a:lnSpc>
              <a:buFont typeface="Arial"/>
              <a:buChar char="•"/>
            </a:pPr>
            <a:r>
              <a:rPr lang="en-US" b="true" sz="26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Run </a:t>
            </a:r>
            <a:r>
              <a:rPr lang="en-US" b="true" sz="2669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python app.py</a:t>
            </a:r>
            <a:r>
              <a:rPr lang="en-US" b="true" sz="26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to auto-create video_zone.db and configure admin credentials.</a:t>
            </a:r>
          </a:p>
          <a:p>
            <a:pPr algn="l">
              <a:lnSpc>
                <a:spcPts val="4084"/>
              </a:lnSpc>
            </a:pPr>
            <a:r>
              <a:rPr lang="en-US" b="true" sz="26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3️⃣</a:t>
            </a:r>
            <a:r>
              <a:rPr lang="en-US" b="true" sz="2669">
                <a:solidFill>
                  <a:srgbClr val="E52C31"/>
                </a:solidFill>
                <a:latin typeface="Poppins Bold"/>
                <a:ea typeface="Poppins Bold"/>
                <a:cs typeface="Poppins Bold"/>
                <a:sym typeface="Poppins Bold"/>
              </a:rPr>
              <a:t> Load / Stream Video</a:t>
            </a:r>
          </a:p>
          <a:p>
            <a:pPr algn="l" marL="576343" indent="-288171" lvl="1">
              <a:lnSpc>
                <a:spcPts val="4084"/>
              </a:lnSpc>
              <a:buFont typeface="Arial"/>
              <a:buChar char="•"/>
            </a:pPr>
            <a:r>
              <a:rPr lang="en-US" b="true" sz="26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Use </a:t>
            </a:r>
            <a:r>
              <a:rPr lang="en-US" b="true" sz="2669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webcam or upload video</a:t>
            </a:r>
            <a:r>
              <a:rPr lang="en-US" b="true" sz="26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from dashboard to start live feed.</a:t>
            </a:r>
          </a:p>
          <a:p>
            <a:pPr algn="l">
              <a:lnSpc>
                <a:spcPts val="4084"/>
              </a:lnSpc>
            </a:pPr>
            <a:r>
              <a:rPr lang="en-US" b="true" sz="26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4️⃣ </a:t>
            </a:r>
            <a:r>
              <a:rPr lang="en-US" b="true" sz="2669">
                <a:solidFill>
                  <a:srgbClr val="E52C31"/>
                </a:solidFill>
                <a:latin typeface="Poppins Bold"/>
                <a:ea typeface="Poppins Bold"/>
                <a:cs typeface="Poppins Bold"/>
                <a:sym typeface="Poppins Bold"/>
              </a:rPr>
              <a:t>Detection &amp; Tracking</a:t>
            </a:r>
          </a:p>
          <a:p>
            <a:pPr algn="l" marL="576343" indent="-288171" lvl="1">
              <a:lnSpc>
                <a:spcPts val="4084"/>
              </a:lnSpc>
              <a:buFont typeface="Arial"/>
              <a:buChar char="•"/>
            </a:pPr>
            <a:r>
              <a:rPr lang="en-US" b="true" sz="26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669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YOLOv8</a:t>
            </a:r>
            <a:r>
              <a:rPr lang="en-US" b="true" sz="26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detects people; </a:t>
            </a:r>
            <a:r>
              <a:rPr lang="en-US" b="true" sz="2669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Deep SORT</a:t>
            </a:r>
            <a:r>
              <a:rPr lang="en-US" b="true" sz="26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tracks unique IDs in real time.</a:t>
            </a:r>
          </a:p>
          <a:p>
            <a:pPr algn="l">
              <a:lnSpc>
                <a:spcPts val="4084"/>
              </a:lnSpc>
            </a:pPr>
            <a:r>
              <a:rPr lang="en-US" b="true" sz="26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5️⃣ </a:t>
            </a:r>
            <a:r>
              <a:rPr lang="en-US" b="true" sz="2669">
                <a:solidFill>
                  <a:srgbClr val="E52C31"/>
                </a:solidFill>
                <a:latin typeface="Poppins Bold"/>
                <a:ea typeface="Poppins Bold"/>
                <a:cs typeface="Poppins Bold"/>
                <a:sym typeface="Poppins Bold"/>
              </a:rPr>
              <a:t>L</a:t>
            </a:r>
            <a:r>
              <a:rPr lang="en-US" b="true" sz="2669">
                <a:solidFill>
                  <a:srgbClr val="E52C31"/>
                </a:solidFill>
                <a:latin typeface="Poppins Bold"/>
                <a:ea typeface="Poppins Bold"/>
                <a:cs typeface="Poppins Bold"/>
                <a:sym typeface="Poppins Bold"/>
              </a:rPr>
              <a:t>ive Counting &amp; Alerts</a:t>
            </a:r>
          </a:p>
          <a:p>
            <a:pPr algn="l" marL="576343" indent="-288171" lvl="1">
              <a:lnSpc>
                <a:spcPts val="4084"/>
              </a:lnSpc>
              <a:buFont typeface="Arial"/>
              <a:buChar char="•"/>
            </a:pPr>
            <a:r>
              <a:rPr lang="en-US" b="true" sz="26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Zones update counts automatically and trigger alerts on threshold breaches.</a:t>
            </a:r>
          </a:p>
          <a:p>
            <a:pPr algn="l">
              <a:lnSpc>
                <a:spcPts val="4084"/>
              </a:lnSpc>
            </a:pPr>
            <a:r>
              <a:rPr lang="en-US" b="true" sz="26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6️⃣</a:t>
            </a:r>
            <a:r>
              <a:rPr lang="en-US" b="true" sz="2669">
                <a:solidFill>
                  <a:srgbClr val="E52C31"/>
                </a:solidFill>
                <a:latin typeface="Poppins Bold"/>
                <a:ea typeface="Poppins Bold"/>
                <a:cs typeface="Poppins Bold"/>
                <a:sym typeface="Poppins Bold"/>
              </a:rPr>
              <a:t> View Dashboard &amp; Export</a:t>
            </a:r>
          </a:p>
          <a:p>
            <a:pPr algn="l" marL="576343" indent="-288171" lvl="1">
              <a:lnSpc>
                <a:spcPts val="4084"/>
              </a:lnSpc>
              <a:buFont typeface="Arial"/>
              <a:buChar char="•"/>
            </a:pPr>
            <a:r>
              <a:rPr lang="en-US" b="true" sz="26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Monitor analytics, logs, and export data (CSV/PDF) from the dashboard.</a:t>
            </a:r>
          </a:p>
          <a:p>
            <a:pPr algn="l">
              <a:lnSpc>
                <a:spcPts val="4084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226320"/>
            <a:ext cx="1588278" cy="469748"/>
          </a:xfrm>
          <a:custGeom>
            <a:avLst/>
            <a:gdLst/>
            <a:ahLst/>
            <a:cxnLst/>
            <a:rect r="r" b="b" t="t" l="l"/>
            <a:pathLst>
              <a:path h="469748" w="1588278">
                <a:moveTo>
                  <a:pt x="0" y="0"/>
                </a:moveTo>
                <a:lnTo>
                  <a:pt x="1588278" y="0"/>
                </a:lnTo>
                <a:lnTo>
                  <a:pt x="1588278" y="469748"/>
                </a:lnTo>
                <a:lnTo>
                  <a:pt x="0" y="46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 l="-13070" t="-19526" r="-11272" b="-10277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2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258588" y="1488879"/>
          <a:ext cx="5657850" cy="5029200"/>
        </p:xfrm>
        <a:graphic>
          <a:graphicData uri="http://schemas.openxmlformats.org/presentationml/2006/ole">
            <p:oleObj imgW="6781800" imgH="6159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2312443" y="280015"/>
            <a:ext cx="14088090" cy="885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33"/>
              </a:lnSpc>
              <a:spcBef>
                <a:spcPct val="0"/>
              </a:spcBef>
            </a:pPr>
            <a:r>
              <a:rPr lang="en-US" sz="5166" strike="noStrike" u="none">
                <a:solidFill>
                  <a:srgbClr val="5E17EB"/>
                </a:solidFill>
                <a:latin typeface="Rowdies"/>
                <a:ea typeface="Rowdies"/>
                <a:cs typeface="Rowdies"/>
                <a:sym typeface="Rowdies"/>
              </a:rPr>
              <a:t>Mathematics</a:t>
            </a:r>
            <a:r>
              <a:rPr lang="en-US" sz="5166" strike="noStrike" u="none">
                <a:solidFill>
                  <a:srgbClr val="000000"/>
                </a:solidFill>
                <a:latin typeface="Rowdies"/>
                <a:ea typeface="Rowdies"/>
                <a:cs typeface="Rowdies"/>
                <a:sym typeface="Rowdies"/>
              </a:rPr>
              <a:t> &amp;</a:t>
            </a:r>
            <a:r>
              <a:rPr lang="en-US" sz="5166" strike="noStrike" u="none">
                <a:solidFill>
                  <a:srgbClr val="5E17EB"/>
                </a:solidFill>
                <a:latin typeface="Rowdies"/>
                <a:ea typeface="Rowdies"/>
                <a:cs typeface="Rowdies"/>
                <a:sym typeface="Rowdies"/>
              </a:rPr>
              <a:t> Formulas </a:t>
            </a:r>
            <a:r>
              <a:rPr lang="en-US" sz="5166" strike="noStrike" u="none">
                <a:solidFill>
                  <a:srgbClr val="000000"/>
                </a:solidFill>
                <a:latin typeface="Rowdies"/>
                <a:ea typeface="Rowdies"/>
                <a:cs typeface="Rowdies"/>
                <a:sym typeface="Rowdies"/>
              </a:rPr>
              <a:t>Behind the Project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226320"/>
            <a:ext cx="1588278" cy="469748"/>
          </a:xfrm>
          <a:custGeom>
            <a:avLst/>
            <a:gdLst/>
            <a:ahLst/>
            <a:cxnLst/>
            <a:rect r="r" b="b" t="t" l="l"/>
            <a:pathLst>
              <a:path h="469748" w="1588278">
                <a:moveTo>
                  <a:pt x="0" y="0"/>
                </a:moveTo>
                <a:lnTo>
                  <a:pt x="1588278" y="0"/>
                </a:lnTo>
                <a:lnTo>
                  <a:pt x="1588278" y="469748"/>
                </a:lnTo>
                <a:lnTo>
                  <a:pt x="0" y="469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1000"/>
            </a:blip>
            <a:stretch>
              <a:fillRect l="-13070" t="-19526" r="-11272" b="-10277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2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760765"/>
            <a:ext cx="7448867" cy="3736865"/>
            <a:chOff x="0" y="0"/>
            <a:chExt cx="1961841" cy="9841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1841" cy="984195"/>
            </a:xfrm>
            <a:custGeom>
              <a:avLst/>
              <a:gdLst/>
              <a:ahLst/>
              <a:cxnLst/>
              <a:rect r="r" b="b" t="t" l="l"/>
              <a:pathLst>
                <a:path h="984195" w="1961841">
                  <a:moveTo>
                    <a:pt x="53006" y="0"/>
                  </a:moveTo>
                  <a:lnTo>
                    <a:pt x="1908835" y="0"/>
                  </a:lnTo>
                  <a:cubicBezTo>
                    <a:pt x="1922893" y="0"/>
                    <a:pt x="1936376" y="5585"/>
                    <a:pt x="1946316" y="15525"/>
                  </a:cubicBezTo>
                  <a:cubicBezTo>
                    <a:pt x="1956257" y="25466"/>
                    <a:pt x="1961841" y="38948"/>
                    <a:pt x="1961841" y="53006"/>
                  </a:cubicBezTo>
                  <a:lnTo>
                    <a:pt x="1961841" y="931189"/>
                  </a:lnTo>
                  <a:cubicBezTo>
                    <a:pt x="1961841" y="945247"/>
                    <a:pt x="1956257" y="958729"/>
                    <a:pt x="1946316" y="968670"/>
                  </a:cubicBezTo>
                  <a:cubicBezTo>
                    <a:pt x="1936376" y="978610"/>
                    <a:pt x="1922893" y="984195"/>
                    <a:pt x="1908835" y="984195"/>
                  </a:cubicBezTo>
                  <a:lnTo>
                    <a:pt x="53006" y="984195"/>
                  </a:lnTo>
                  <a:cubicBezTo>
                    <a:pt x="38948" y="984195"/>
                    <a:pt x="25466" y="978610"/>
                    <a:pt x="15525" y="968670"/>
                  </a:cubicBezTo>
                  <a:cubicBezTo>
                    <a:pt x="5585" y="958729"/>
                    <a:pt x="0" y="945247"/>
                    <a:pt x="0" y="931189"/>
                  </a:cubicBezTo>
                  <a:lnTo>
                    <a:pt x="0" y="53006"/>
                  </a:lnTo>
                  <a:cubicBezTo>
                    <a:pt x="0" y="38948"/>
                    <a:pt x="5585" y="25466"/>
                    <a:pt x="15525" y="15525"/>
                  </a:cubicBezTo>
                  <a:cubicBezTo>
                    <a:pt x="25466" y="5585"/>
                    <a:pt x="38948" y="0"/>
                    <a:pt x="530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1841" cy="1022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158495" y="1760765"/>
            <a:ext cx="7448867" cy="3736865"/>
            <a:chOff x="0" y="0"/>
            <a:chExt cx="1961841" cy="9841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1841" cy="984195"/>
            </a:xfrm>
            <a:custGeom>
              <a:avLst/>
              <a:gdLst/>
              <a:ahLst/>
              <a:cxnLst/>
              <a:rect r="r" b="b" t="t" l="l"/>
              <a:pathLst>
                <a:path h="984195" w="1961841">
                  <a:moveTo>
                    <a:pt x="53006" y="0"/>
                  </a:moveTo>
                  <a:lnTo>
                    <a:pt x="1908835" y="0"/>
                  </a:lnTo>
                  <a:cubicBezTo>
                    <a:pt x="1922893" y="0"/>
                    <a:pt x="1936376" y="5585"/>
                    <a:pt x="1946316" y="15525"/>
                  </a:cubicBezTo>
                  <a:cubicBezTo>
                    <a:pt x="1956257" y="25466"/>
                    <a:pt x="1961841" y="38948"/>
                    <a:pt x="1961841" y="53006"/>
                  </a:cubicBezTo>
                  <a:lnTo>
                    <a:pt x="1961841" y="931189"/>
                  </a:lnTo>
                  <a:cubicBezTo>
                    <a:pt x="1961841" y="945247"/>
                    <a:pt x="1956257" y="958729"/>
                    <a:pt x="1946316" y="968670"/>
                  </a:cubicBezTo>
                  <a:cubicBezTo>
                    <a:pt x="1936376" y="978610"/>
                    <a:pt x="1922893" y="984195"/>
                    <a:pt x="1908835" y="984195"/>
                  </a:cubicBezTo>
                  <a:lnTo>
                    <a:pt x="53006" y="984195"/>
                  </a:lnTo>
                  <a:cubicBezTo>
                    <a:pt x="38948" y="984195"/>
                    <a:pt x="25466" y="978610"/>
                    <a:pt x="15525" y="968670"/>
                  </a:cubicBezTo>
                  <a:cubicBezTo>
                    <a:pt x="5585" y="958729"/>
                    <a:pt x="0" y="945247"/>
                    <a:pt x="0" y="931189"/>
                  </a:cubicBezTo>
                  <a:lnTo>
                    <a:pt x="0" y="53006"/>
                  </a:lnTo>
                  <a:cubicBezTo>
                    <a:pt x="0" y="38948"/>
                    <a:pt x="5585" y="25466"/>
                    <a:pt x="15525" y="15525"/>
                  </a:cubicBezTo>
                  <a:cubicBezTo>
                    <a:pt x="25466" y="5585"/>
                    <a:pt x="38948" y="0"/>
                    <a:pt x="530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61841" cy="1022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5949251"/>
            <a:ext cx="7448867" cy="3847089"/>
            <a:chOff x="0" y="0"/>
            <a:chExt cx="1961841" cy="10132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61841" cy="1013225"/>
            </a:xfrm>
            <a:custGeom>
              <a:avLst/>
              <a:gdLst/>
              <a:ahLst/>
              <a:cxnLst/>
              <a:rect r="r" b="b" t="t" l="l"/>
              <a:pathLst>
                <a:path h="1013225" w="1961841">
                  <a:moveTo>
                    <a:pt x="53006" y="0"/>
                  </a:moveTo>
                  <a:lnTo>
                    <a:pt x="1908835" y="0"/>
                  </a:lnTo>
                  <a:cubicBezTo>
                    <a:pt x="1922893" y="0"/>
                    <a:pt x="1936376" y="5585"/>
                    <a:pt x="1946316" y="15525"/>
                  </a:cubicBezTo>
                  <a:cubicBezTo>
                    <a:pt x="1956257" y="25466"/>
                    <a:pt x="1961841" y="38948"/>
                    <a:pt x="1961841" y="53006"/>
                  </a:cubicBezTo>
                  <a:lnTo>
                    <a:pt x="1961841" y="960219"/>
                  </a:lnTo>
                  <a:cubicBezTo>
                    <a:pt x="1961841" y="974277"/>
                    <a:pt x="1956257" y="987759"/>
                    <a:pt x="1946316" y="997700"/>
                  </a:cubicBezTo>
                  <a:cubicBezTo>
                    <a:pt x="1936376" y="1007641"/>
                    <a:pt x="1922893" y="1013225"/>
                    <a:pt x="1908835" y="1013225"/>
                  </a:cubicBezTo>
                  <a:lnTo>
                    <a:pt x="53006" y="1013225"/>
                  </a:lnTo>
                  <a:cubicBezTo>
                    <a:pt x="38948" y="1013225"/>
                    <a:pt x="25466" y="1007641"/>
                    <a:pt x="15525" y="997700"/>
                  </a:cubicBezTo>
                  <a:cubicBezTo>
                    <a:pt x="5585" y="987759"/>
                    <a:pt x="0" y="974277"/>
                    <a:pt x="0" y="960219"/>
                  </a:cubicBezTo>
                  <a:lnTo>
                    <a:pt x="0" y="53006"/>
                  </a:lnTo>
                  <a:cubicBezTo>
                    <a:pt x="0" y="38948"/>
                    <a:pt x="5585" y="25466"/>
                    <a:pt x="15525" y="15525"/>
                  </a:cubicBezTo>
                  <a:cubicBezTo>
                    <a:pt x="25466" y="5585"/>
                    <a:pt x="38948" y="0"/>
                    <a:pt x="530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61841" cy="105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158495" y="6099424"/>
            <a:ext cx="7274836" cy="3696916"/>
            <a:chOff x="0" y="0"/>
            <a:chExt cx="1916006" cy="9736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16006" cy="973673"/>
            </a:xfrm>
            <a:custGeom>
              <a:avLst/>
              <a:gdLst/>
              <a:ahLst/>
              <a:cxnLst/>
              <a:rect r="r" b="b" t="t" l="l"/>
              <a:pathLst>
                <a:path h="973673" w="1916006">
                  <a:moveTo>
                    <a:pt x="54274" y="0"/>
                  </a:moveTo>
                  <a:lnTo>
                    <a:pt x="1861732" y="0"/>
                  </a:lnTo>
                  <a:cubicBezTo>
                    <a:pt x="1891707" y="0"/>
                    <a:pt x="1916006" y="24300"/>
                    <a:pt x="1916006" y="54274"/>
                  </a:cubicBezTo>
                  <a:lnTo>
                    <a:pt x="1916006" y="919399"/>
                  </a:lnTo>
                  <a:cubicBezTo>
                    <a:pt x="1916006" y="949374"/>
                    <a:pt x="1891707" y="973673"/>
                    <a:pt x="1861732" y="973673"/>
                  </a:cubicBezTo>
                  <a:lnTo>
                    <a:pt x="54274" y="973673"/>
                  </a:lnTo>
                  <a:cubicBezTo>
                    <a:pt x="24300" y="973673"/>
                    <a:pt x="0" y="949374"/>
                    <a:pt x="0" y="919399"/>
                  </a:cubicBezTo>
                  <a:lnTo>
                    <a:pt x="0" y="54274"/>
                  </a:lnTo>
                  <a:cubicBezTo>
                    <a:pt x="0" y="24300"/>
                    <a:pt x="24300" y="0"/>
                    <a:pt x="542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16006" cy="1011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82639" y="2472730"/>
            <a:ext cx="2387385" cy="2716796"/>
          </a:xfrm>
          <a:custGeom>
            <a:avLst/>
            <a:gdLst/>
            <a:ahLst/>
            <a:cxnLst/>
            <a:rect r="r" b="b" t="t" l="l"/>
            <a:pathLst>
              <a:path h="2716796" w="2387385">
                <a:moveTo>
                  <a:pt x="0" y="0"/>
                </a:moveTo>
                <a:lnTo>
                  <a:pt x="2387385" y="0"/>
                </a:lnTo>
                <a:lnTo>
                  <a:pt x="2387385" y="2716796"/>
                </a:lnTo>
                <a:lnTo>
                  <a:pt x="0" y="2716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587915" y="6689929"/>
            <a:ext cx="2502182" cy="2515905"/>
          </a:xfrm>
          <a:custGeom>
            <a:avLst/>
            <a:gdLst/>
            <a:ahLst/>
            <a:cxnLst/>
            <a:rect r="r" b="b" t="t" l="l"/>
            <a:pathLst>
              <a:path h="2515905" w="2502182">
                <a:moveTo>
                  <a:pt x="0" y="0"/>
                </a:moveTo>
                <a:lnTo>
                  <a:pt x="2502182" y="0"/>
                </a:lnTo>
                <a:lnTo>
                  <a:pt x="2502182" y="2515906"/>
                </a:lnTo>
                <a:lnTo>
                  <a:pt x="0" y="25159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0461" y="6255752"/>
            <a:ext cx="2533384" cy="2950083"/>
          </a:xfrm>
          <a:custGeom>
            <a:avLst/>
            <a:gdLst/>
            <a:ahLst/>
            <a:cxnLst/>
            <a:rect r="r" b="b" t="t" l="l"/>
            <a:pathLst>
              <a:path h="2950083" w="2533384">
                <a:moveTo>
                  <a:pt x="0" y="0"/>
                </a:moveTo>
                <a:lnTo>
                  <a:pt x="2533383" y="0"/>
                </a:lnTo>
                <a:lnTo>
                  <a:pt x="2533383" y="2950083"/>
                </a:lnTo>
                <a:lnTo>
                  <a:pt x="0" y="29500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717674" y="2582116"/>
            <a:ext cx="2242664" cy="2242664"/>
          </a:xfrm>
          <a:custGeom>
            <a:avLst/>
            <a:gdLst/>
            <a:ahLst/>
            <a:cxnLst/>
            <a:rect r="r" b="b" t="t" l="l"/>
            <a:pathLst>
              <a:path h="2242664" w="2242664">
                <a:moveTo>
                  <a:pt x="0" y="0"/>
                </a:moveTo>
                <a:lnTo>
                  <a:pt x="2242664" y="0"/>
                </a:lnTo>
                <a:lnTo>
                  <a:pt x="2242664" y="2242664"/>
                </a:lnTo>
                <a:lnTo>
                  <a:pt x="0" y="22426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795913" y="2336295"/>
            <a:ext cx="3724433" cy="293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05"/>
              </a:lnSpc>
              <a:spcBef>
                <a:spcPct val="0"/>
              </a:spcBef>
            </a:pPr>
            <a:r>
              <a:rPr lang="en-US" sz="2825" strike="noStrike" u="none">
                <a:solidFill>
                  <a:srgbClr val="323232"/>
                </a:solidFill>
                <a:latin typeface="Sniglet"/>
                <a:ea typeface="Sniglet"/>
                <a:cs typeface="Sniglet"/>
                <a:sym typeface="Sniglet"/>
              </a:rPr>
              <a:t>Add </a:t>
            </a:r>
            <a:r>
              <a:rPr lang="en-US" sz="2825" strike="noStrike" u="none">
                <a:solidFill>
                  <a:srgbClr val="5E17EB"/>
                </a:solidFill>
                <a:latin typeface="Sniglet"/>
                <a:ea typeface="Sniglet"/>
                <a:cs typeface="Sniglet"/>
                <a:sym typeface="Sniglet"/>
              </a:rPr>
              <a:t>multilingual options, voice assistance, and accessibility</a:t>
            </a:r>
            <a:r>
              <a:rPr lang="en-US" sz="2825" strike="noStrike" u="none">
                <a:solidFill>
                  <a:srgbClr val="323232"/>
                </a:solidFill>
                <a:latin typeface="Sniglet"/>
                <a:ea typeface="Sniglet"/>
                <a:cs typeface="Sniglet"/>
                <a:sym typeface="Sniglet"/>
              </a:rPr>
              <a:t> features to make the system inclusive and usable by diverse users.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53133" y="2543605"/>
            <a:ext cx="3937780" cy="251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825">
                <a:solidFill>
                  <a:srgbClr val="323232"/>
                </a:solidFill>
                <a:latin typeface="Sniglet"/>
                <a:ea typeface="Sniglet"/>
                <a:cs typeface="Sniglet"/>
                <a:sym typeface="Sniglet"/>
              </a:rPr>
              <a:t>Develop a </a:t>
            </a:r>
            <a:r>
              <a:rPr lang="en-US" sz="2825">
                <a:solidFill>
                  <a:srgbClr val="5E17EB"/>
                </a:solidFill>
                <a:latin typeface="Sniglet"/>
                <a:ea typeface="Sniglet"/>
                <a:cs typeface="Sniglet"/>
                <a:sym typeface="Sniglet"/>
              </a:rPr>
              <a:t>mobile friendly</a:t>
            </a:r>
            <a:r>
              <a:rPr lang="en-US" sz="2825">
                <a:solidFill>
                  <a:srgbClr val="323232"/>
                </a:solidFill>
                <a:latin typeface="Sniglet"/>
                <a:ea typeface="Sniglet"/>
                <a:cs typeface="Sniglet"/>
                <a:sym typeface="Sniglet"/>
              </a:rPr>
              <a:t> dashboard accessible via smartphones for </a:t>
            </a:r>
          </a:p>
          <a:p>
            <a:pPr algn="l">
              <a:lnSpc>
                <a:spcPts val="3305"/>
              </a:lnSpc>
            </a:pPr>
            <a:r>
              <a:rPr lang="en-US" sz="2825">
                <a:solidFill>
                  <a:srgbClr val="323232"/>
                </a:solidFill>
                <a:latin typeface="Sniglet"/>
                <a:ea typeface="Sniglet"/>
                <a:cs typeface="Sniglet"/>
                <a:sym typeface="Sniglet"/>
              </a:rPr>
              <a:t>real-time monitoring and alerts on the go.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64369" y="6710909"/>
            <a:ext cx="3675097" cy="251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05"/>
              </a:lnSpc>
              <a:spcBef>
                <a:spcPct val="0"/>
              </a:spcBef>
            </a:pPr>
            <a:r>
              <a:rPr lang="en-US" sz="2825" strike="noStrike" u="none">
                <a:solidFill>
                  <a:srgbClr val="323232"/>
                </a:solidFill>
                <a:latin typeface="Sniglet"/>
                <a:ea typeface="Sniglet"/>
                <a:cs typeface="Sniglet"/>
                <a:sym typeface="Sniglet"/>
              </a:rPr>
              <a:t>Add automated </a:t>
            </a:r>
            <a:r>
              <a:rPr lang="en-US" sz="2825" strike="noStrike" u="none">
                <a:solidFill>
                  <a:srgbClr val="5E17EB"/>
                </a:solidFill>
                <a:latin typeface="Sniglet"/>
                <a:ea typeface="Sniglet"/>
                <a:cs typeface="Sniglet"/>
                <a:sym typeface="Sniglet"/>
              </a:rPr>
              <a:t>voice or sound alerts</a:t>
            </a:r>
            <a:r>
              <a:rPr lang="en-US" sz="2825" strike="noStrike" u="none">
                <a:solidFill>
                  <a:srgbClr val="428DFF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825" strike="noStrike" u="none">
                <a:solidFill>
                  <a:srgbClr val="323232"/>
                </a:solidFill>
                <a:latin typeface="Sniglet"/>
                <a:ea typeface="Sniglet"/>
                <a:cs typeface="Sniglet"/>
                <a:sym typeface="Sniglet"/>
              </a:rPr>
              <a:t>when crowd thresholds are exceeded, improving real-time responsiveness.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84465" y="6451321"/>
            <a:ext cx="3774835" cy="293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05"/>
              </a:lnSpc>
              <a:spcBef>
                <a:spcPct val="0"/>
              </a:spcBef>
            </a:pPr>
            <a:r>
              <a:rPr lang="en-US" sz="2825" strike="noStrike" u="none">
                <a:solidFill>
                  <a:srgbClr val="323232"/>
                </a:solidFill>
                <a:latin typeface="Sniglet"/>
                <a:ea typeface="Sniglet"/>
                <a:cs typeface="Sniglet"/>
                <a:sym typeface="Sniglet"/>
              </a:rPr>
              <a:t>Implement </a:t>
            </a:r>
            <a:r>
              <a:rPr lang="en-US" sz="2825" strike="noStrike" u="none">
                <a:solidFill>
                  <a:srgbClr val="5E17EB"/>
                </a:solidFill>
                <a:latin typeface="Sniglet"/>
                <a:ea typeface="Sniglet"/>
                <a:cs typeface="Sniglet"/>
                <a:sym typeface="Sniglet"/>
              </a:rPr>
              <a:t>deep learning models</a:t>
            </a:r>
            <a:r>
              <a:rPr lang="en-US" sz="2825" strike="noStrike" u="none">
                <a:solidFill>
                  <a:srgbClr val="323232"/>
                </a:solidFill>
                <a:latin typeface="Sniglet"/>
                <a:ea typeface="Sniglet"/>
                <a:cs typeface="Sniglet"/>
                <a:sym typeface="Sniglet"/>
              </a:rPr>
              <a:t> to automatically identify unusual crowd movements, panic situations, or suspicious activities in real time.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05951" y="222829"/>
            <a:ext cx="9139255" cy="108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  <a:spcBef>
                <a:spcPct val="0"/>
              </a:spcBef>
            </a:pPr>
            <a:r>
              <a:rPr lang="en-US" sz="6422">
                <a:solidFill>
                  <a:srgbClr val="000000"/>
                </a:solidFill>
                <a:latin typeface="Rowdies"/>
                <a:ea typeface="Rowdies"/>
                <a:cs typeface="Rowdies"/>
                <a:sym typeface="Rowdies"/>
              </a:rPr>
              <a:t>Future</a:t>
            </a:r>
            <a:r>
              <a:rPr lang="en-US" sz="6422">
                <a:solidFill>
                  <a:srgbClr val="E52C31"/>
                </a:solidFill>
                <a:latin typeface="Rowdies"/>
                <a:ea typeface="Rowdies"/>
                <a:cs typeface="Rowdies"/>
                <a:sym typeface="Rowdies"/>
              </a:rPr>
              <a:t> </a:t>
            </a:r>
            <a:r>
              <a:rPr lang="en-US" sz="6422">
                <a:solidFill>
                  <a:srgbClr val="5E17EB"/>
                </a:solidFill>
                <a:latin typeface="Rowdies"/>
                <a:ea typeface="Rowdies"/>
                <a:cs typeface="Rowdies"/>
                <a:sym typeface="Rowdies"/>
              </a:rPr>
              <a:t>Enhancements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0" y="226320"/>
            <a:ext cx="1588278" cy="469748"/>
          </a:xfrm>
          <a:custGeom>
            <a:avLst/>
            <a:gdLst/>
            <a:ahLst/>
            <a:cxnLst/>
            <a:rect r="r" b="b" t="t" l="l"/>
            <a:pathLst>
              <a:path h="469748" w="1588278">
                <a:moveTo>
                  <a:pt x="0" y="0"/>
                </a:moveTo>
                <a:lnTo>
                  <a:pt x="1588278" y="0"/>
                </a:lnTo>
                <a:lnTo>
                  <a:pt x="1588278" y="469748"/>
                </a:lnTo>
                <a:lnTo>
                  <a:pt x="0" y="4697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1000"/>
            </a:blip>
            <a:stretch>
              <a:fillRect l="-13070" t="-19526" r="-11272" b="-10277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2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03110" y="656546"/>
            <a:ext cx="4984890" cy="4114800"/>
          </a:xfrm>
          <a:custGeom>
            <a:avLst/>
            <a:gdLst/>
            <a:ahLst/>
            <a:cxnLst/>
            <a:rect r="r" b="b" t="t" l="l"/>
            <a:pathLst>
              <a:path h="4114800" w="4984890">
                <a:moveTo>
                  <a:pt x="0" y="0"/>
                </a:moveTo>
                <a:lnTo>
                  <a:pt x="4984890" y="0"/>
                </a:lnTo>
                <a:lnTo>
                  <a:pt x="49848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1303" y="656546"/>
            <a:ext cx="4984890" cy="4114800"/>
          </a:xfrm>
          <a:custGeom>
            <a:avLst/>
            <a:gdLst/>
            <a:ahLst/>
            <a:cxnLst/>
            <a:rect r="r" b="b" t="t" l="l"/>
            <a:pathLst>
              <a:path h="4114800" w="4984890">
                <a:moveTo>
                  <a:pt x="4984890" y="0"/>
                </a:moveTo>
                <a:lnTo>
                  <a:pt x="0" y="0"/>
                </a:lnTo>
                <a:lnTo>
                  <a:pt x="0" y="4114800"/>
                </a:lnTo>
                <a:lnTo>
                  <a:pt x="4984890" y="4114800"/>
                </a:lnTo>
                <a:lnTo>
                  <a:pt x="4984890" y="0"/>
                </a:lnTo>
                <a:close/>
              </a:path>
            </a:pathLst>
          </a:custGeom>
          <a:blipFill>
            <a:blip r:embed="rId2">
              <a:alphaModFix amt="6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5652" y="7496379"/>
            <a:ext cx="18419303" cy="2967518"/>
          </a:xfrm>
          <a:custGeom>
            <a:avLst/>
            <a:gdLst/>
            <a:ahLst/>
            <a:cxnLst/>
            <a:rect r="r" b="b" t="t" l="l"/>
            <a:pathLst>
              <a:path h="2967518" w="18419303">
                <a:moveTo>
                  <a:pt x="0" y="0"/>
                </a:moveTo>
                <a:lnTo>
                  <a:pt x="18419304" y="0"/>
                </a:lnTo>
                <a:lnTo>
                  <a:pt x="18419304" y="2967518"/>
                </a:lnTo>
                <a:lnTo>
                  <a:pt x="0" y="29675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72574" y="7162719"/>
            <a:ext cx="1971426" cy="779857"/>
          </a:xfrm>
          <a:custGeom>
            <a:avLst/>
            <a:gdLst/>
            <a:ahLst/>
            <a:cxnLst/>
            <a:rect r="r" b="b" t="t" l="l"/>
            <a:pathLst>
              <a:path h="779857" w="1971426">
                <a:moveTo>
                  <a:pt x="0" y="0"/>
                </a:moveTo>
                <a:lnTo>
                  <a:pt x="1971426" y="0"/>
                </a:lnTo>
                <a:lnTo>
                  <a:pt x="1971426" y="779857"/>
                </a:lnTo>
                <a:lnTo>
                  <a:pt x="0" y="7798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140" t="-29198" r="-122544" b="-6489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31303" y="-2706690"/>
            <a:ext cx="9258300" cy="14956071"/>
          </a:xfrm>
          <a:custGeom>
            <a:avLst/>
            <a:gdLst/>
            <a:ahLst/>
            <a:cxnLst/>
            <a:rect r="r" b="b" t="t" l="l"/>
            <a:pathLst>
              <a:path h="14956071" w="9258300">
                <a:moveTo>
                  <a:pt x="0" y="0"/>
                </a:moveTo>
                <a:lnTo>
                  <a:pt x="9258300" y="0"/>
                </a:lnTo>
                <a:lnTo>
                  <a:pt x="9258300" y="14956072"/>
                </a:lnTo>
                <a:lnTo>
                  <a:pt x="0" y="149560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9000"/>
            </a:blip>
            <a:stretch>
              <a:fillRect l="-30771" t="0" r="-30771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0533" y="1913845"/>
            <a:ext cx="7292927" cy="5715003"/>
          </a:xfrm>
          <a:custGeom>
            <a:avLst/>
            <a:gdLst/>
            <a:ahLst/>
            <a:cxnLst/>
            <a:rect r="r" b="b" t="t" l="l"/>
            <a:pathLst>
              <a:path h="5715003" w="7292927">
                <a:moveTo>
                  <a:pt x="0" y="0"/>
                </a:moveTo>
                <a:lnTo>
                  <a:pt x="7292927" y="0"/>
                </a:lnTo>
                <a:lnTo>
                  <a:pt x="7292927" y="5715002"/>
                </a:lnTo>
                <a:lnTo>
                  <a:pt x="0" y="57150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5973" y="7172244"/>
            <a:ext cx="2109453" cy="779857"/>
          </a:xfrm>
          <a:custGeom>
            <a:avLst/>
            <a:gdLst/>
            <a:ahLst/>
            <a:cxnLst/>
            <a:rect r="r" b="b" t="t" l="l"/>
            <a:pathLst>
              <a:path h="779857" w="2109453">
                <a:moveTo>
                  <a:pt x="0" y="0"/>
                </a:moveTo>
                <a:lnTo>
                  <a:pt x="2109453" y="0"/>
                </a:lnTo>
                <a:lnTo>
                  <a:pt x="2109453" y="779857"/>
                </a:lnTo>
                <a:lnTo>
                  <a:pt x="0" y="7798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1343" t="-29198" r="-21069" b="-6489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DAG4ZeaLGjI</dc:identifier>
  <dcterms:modified xsi:type="dcterms:W3CDTF">2011-08-01T06:04:30Z</dcterms:modified>
  <cp:revision>1</cp:revision>
  <dc:title>Infosys Final PPT</dc:title>
</cp:coreProperties>
</file>